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2860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999999"/>
                </a:solidFill>
                <a:latin typeface="Calibri"/>
              </a:defRPr>
            </a:pPr>
            <a:r>
              <a:t>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 i="0">
                <a:solidFill>
                  <a:srgbClr val="FFFFFF"/>
                </a:solidFill>
                <a:latin typeface="Calibri"/>
              </a:defRPr>
            </a:pPr>
            <a:r>
              <a:t>Resonance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749039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00"/>
              </a:lnSpc>
              <a:defRPr sz="1800" b="0" i="0">
                <a:solidFill>
                  <a:srgbClr val="808080"/>
                </a:solidFill>
                <a:latin typeface="Calibri"/>
              </a:defRPr>
            </a:pPr>
            <a:r>
              <a:t>A contemplative listening room.</a:t>
            </a:r>
            <a:br/>
            <a:r>
              <a:t>Generative audiovisual, music-led, slow time.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9436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404040"/>
                </a:solidFill>
                <a:latin typeface="Consolas"/>
              </a:defRPr>
            </a:pPr>
            <a:r>
              <a:t>INSTALLATION BRIEF    |    KAREL BARNOSKI    |   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2801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C3AED"/>
                </a:solidFill>
                <a:latin typeface="Consolas"/>
              </a:defRPr>
            </a:pPr>
            <a:r>
              <a:t>WHAT IT 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0020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200"/>
              </a:lnSpc>
              <a:defRPr sz="4400" b="1" i="0">
                <a:solidFill>
                  <a:srgbClr val="FFFFFF"/>
                </a:solidFill>
                <a:latin typeface="Calibri"/>
              </a:defRPr>
            </a:pPr>
            <a:r>
              <a:t>A generative audiovisual instrument.</a:t>
            </a:r>
            <a:br/>
            <a:r>
              <a:t>Music-led. Slow 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65760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1400"/>
              </a:spcAft>
              <a:defRPr sz="1500" b="0" i="0">
                <a:solidFill>
                  <a:srgbClr val="999999"/>
                </a:solidFill>
                <a:latin typeface="Calibri"/>
              </a:defRPr>
            </a:pPr>
            <a:r>
              <a:t>A composed piece of music drives real-time audio-reactive shaders and AI-curated imagery, producing a 20–40 minute slow-moving visual landscape that never repeats verbatim.</a:t>
            </a:r>
          </a:p>
          <a:p>
            <a:pPr>
              <a:lnSpc>
                <a:spcPts val="2400"/>
              </a:lnSpc>
              <a:defRPr sz="1500" b="0" i="0">
                <a:solidFill>
                  <a:srgbClr val="999999"/>
                </a:solidFill>
                <a:latin typeface="Calibri"/>
              </a:defRPr>
            </a:pPr>
            <a:r>
              <a:t>Originally built for personal listening. Scales naturally to a shared room: same engine, same patience, just larger and quieter.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9144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C3AED"/>
                </a:solidFill>
                <a:latin typeface="Consolas"/>
              </a:defRPr>
            </a:pPr>
            <a:r>
              <a:t>THE ROOM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000"/>
              </a:lnSpc>
              <a:defRPr sz="4200" b="1" i="0">
                <a:solidFill>
                  <a:srgbClr val="FFFFFF"/>
                </a:solidFill>
                <a:latin typeface="Calibri"/>
              </a:defRPr>
            </a:pPr>
            <a:r>
              <a:t>Planetarium vibes.</a:t>
            </a:r>
            <a:br/>
            <a:r>
              <a:t>A dark space, audience reclining, eyes up.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9319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C3AED"/>
                </a:solidFill>
                <a:latin typeface="Consolas"/>
              </a:defRPr>
            </a:pPr>
            <a:r>
              <a:t>SPACE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393192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  <a:defRPr sz="1300" b="0" i="0">
                <a:solidFill>
                  <a:srgbClr val="999999"/>
                </a:solidFill>
                <a:latin typeface="Calibri"/>
              </a:defRPr>
            </a:pPr>
            <a:r>
              <a:t>12×12 ft to 30×40 ft. Dome geometry welcome.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3434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C3AED"/>
                </a:solidFill>
                <a:latin typeface="Consolas"/>
              </a:defRPr>
            </a:pPr>
            <a:r>
              <a:t>FLOOR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434340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  <a:defRPr sz="1300" b="0" i="0">
                <a:solidFill>
                  <a:srgbClr val="999999"/>
                </a:solidFill>
                <a:latin typeface="Calibri"/>
              </a:defRPr>
            </a:pPr>
            <a:r>
              <a:t>Mats and pillows. No chairs.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7548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C3AED"/>
                </a:solidFill>
                <a:latin typeface="Consolas"/>
              </a:defRPr>
            </a:pPr>
            <a:r>
              <a:t>DISPLAY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475488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  <a:defRPr sz="1300" b="0" i="0">
                <a:solidFill>
                  <a:srgbClr val="999999"/>
                </a:solidFill>
                <a:latin typeface="Calibri"/>
              </a:defRPr>
            </a:pPr>
            <a:r>
              <a:t>Single overhead projection, dome, or large wall display.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1663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C3AED"/>
                </a:solidFill>
                <a:latin typeface="Consolas"/>
              </a:defRPr>
            </a:pPr>
            <a:r>
              <a:t>AUDIO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516636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  <a:defRPr sz="1300" b="0" i="0">
                <a:solidFill>
                  <a:srgbClr val="999999"/>
                </a:solidFill>
                <a:latin typeface="Calibri"/>
              </a:defRPr>
            </a:pPr>
            <a:r>
              <a:t>4-corner speaker array. Stereo as a baseline.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5778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C3AED"/>
                </a:solidFill>
                <a:latin typeface="Consolas"/>
              </a:defRPr>
            </a:pPr>
            <a:r>
              <a:t>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557784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  <a:defRPr sz="1300" b="0" i="0">
                <a:solidFill>
                  <a:srgbClr val="999999"/>
                </a:solidFill>
                <a:latin typeface="Calibri"/>
              </a:defRPr>
            </a:pPr>
            <a:r>
              <a:t>Visitors enter and leave on their own time. No timed entry. No headphones. No narration.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9144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C3AED"/>
                </a:solidFill>
                <a:latin typeface="Consolas"/>
              </a:defRPr>
            </a:pPr>
            <a:r>
              <a:t>THE PIECE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 i="0">
                <a:solidFill>
                  <a:srgbClr val="FFFFFF"/>
                </a:solidFill>
                <a:latin typeface="Calibri"/>
              </a:defRPr>
            </a:pPr>
            <a:r>
              <a:t>A single ~30 minute Path.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defRPr sz="1600" b="0" i="0">
                <a:solidFill>
                  <a:srgbClr val="737373"/>
                </a:solidFill>
                <a:latin typeface="Calibri"/>
              </a:defRPr>
            </a:pPr>
            <a:r>
              <a:t>Three to five composed tracks, threaded into one continuous arc.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023360"/>
            <a:ext cx="2468880" cy="2103120"/>
          </a:xfrm>
          <a:prstGeom prst="rect">
            <a:avLst/>
          </a:prstGeom>
          <a:noFill/>
          <a:ln w="12700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4206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C3AED"/>
                </a:solidFill>
                <a:latin typeface="Consola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5262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FFFFFF"/>
                </a:solidFill>
                <a:latin typeface="Calibri"/>
              </a:defRPr>
            </a:pPr>
            <a:r>
              <a:t>Threshold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02920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defRPr sz="1100" b="0" i="0">
                <a:solidFill>
                  <a:srgbClr val="737373"/>
                </a:solidFill>
                <a:latin typeface="Calibri"/>
              </a:defRPr>
            </a:pPr>
            <a:r>
              <a:t>Open in near-silence. Single tone. Near-black field.</a:t>
            </a:r>
          </a:p>
        </p:txBody>
      </p:sp>
      <p:sp>
        <p:nvSpPr>
          <p:cNvPr id="9" name="Rectangle 8"/>
          <p:cNvSpPr/>
          <p:nvPr/>
        </p:nvSpPr>
        <p:spPr>
          <a:xfrm>
            <a:off x="3456432" y="4023360"/>
            <a:ext cx="2468880" cy="2103120"/>
          </a:xfrm>
          <a:prstGeom prst="rect">
            <a:avLst/>
          </a:prstGeom>
          <a:noFill/>
          <a:ln w="12700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9312" y="4206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C3AED"/>
                </a:solidFill>
                <a:latin typeface="Consolas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9312" y="45262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FFFFFF"/>
                </a:solidFill>
                <a:latin typeface="Calibri"/>
              </a:defRPr>
            </a:pPr>
            <a:r>
              <a:t>Expansion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9312" y="502920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defRPr sz="1100" b="0" i="0">
                <a:solidFill>
                  <a:srgbClr val="737373"/>
                </a:solidFill>
                <a:latin typeface="Calibri"/>
              </a:defRPr>
            </a:pPr>
            <a:r>
              <a:t>Imagery surfaces. Music builds. Caustics, mandalas, figures.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9904" y="4023360"/>
            <a:ext cx="2468880" cy="2103120"/>
          </a:xfrm>
          <a:prstGeom prst="rect">
            <a:avLst/>
          </a:prstGeom>
          <a:noFill/>
          <a:ln w="12700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2784" y="4206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C3AED"/>
                </a:solidFill>
                <a:latin typeface="Consolas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2784" y="45262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FFFFFF"/>
                </a:solidFill>
                <a:latin typeface="Calibri"/>
              </a:defRPr>
            </a:pPr>
            <a:r>
              <a:t>Apex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72784" y="502920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defRPr sz="1100" b="0" i="0">
                <a:solidFill>
                  <a:srgbClr val="737373"/>
                </a:solidFill>
                <a:latin typeface="Calibri"/>
              </a:defRPr>
            </a:pPr>
            <a:r>
              <a:t>Full motion and color. The room is loud and alive.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723376" y="4023360"/>
            <a:ext cx="2468880" cy="2103120"/>
          </a:xfrm>
          <a:prstGeom prst="rect">
            <a:avLst/>
          </a:prstGeom>
          <a:noFill/>
          <a:ln w="12700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06256" y="4206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C3AED"/>
                </a:solidFill>
                <a:latin typeface="Consolas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06256" y="45262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FFFFFF"/>
                </a:solidFill>
                <a:latin typeface="Calibri"/>
              </a:defRPr>
            </a:pPr>
            <a:r>
              <a:t>Return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06256" y="502920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defRPr sz="1100" b="0" i="0">
                <a:solidFill>
                  <a:srgbClr val="737373"/>
                </a:solidFill>
                <a:latin typeface="Calibri"/>
              </a:defRPr>
            </a:pPr>
            <a:r>
              <a:t>Settle back toward stillness. Cycle resolves and begins again.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C3AED"/>
                </a:solidFill>
                <a:latin typeface="Consolas"/>
              </a:defRPr>
            </a:pPr>
            <a:r>
              <a:t>SHAPE OF THE WORK</a:t>
            </a:r>
          </a:p>
        </p:txBody>
      </p:sp>
      <p:pic>
        <p:nvPicPr>
          <p:cNvPr id="3" name="Picture 2" descr="01-welcome-home-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914400"/>
            <a:ext cx="9784080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62636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1">
                <a:solidFill>
                  <a:srgbClr val="4D4D4D"/>
                </a:solidFill>
                <a:latin typeface="Calibri"/>
              </a:defRPr>
            </a:pPr>
            <a:r>
              <a:t>Welcome Home — thirteen tracks, one ~30-minute path through the album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C3AED"/>
                </a:solidFill>
                <a:latin typeface="Consolas"/>
              </a:defRPr>
            </a:pPr>
            <a:r>
              <a:t>WHAT A VISITOR EXPERIENCES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400" b="0" i="1">
                <a:solidFill>
                  <a:srgbClr val="BFBFBF"/>
                </a:solidFill>
                <a:latin typeface="Calibri"/>
              </a:defRPr>
            </a:pPr>
            <a:r>
              <a:t>Enters a dark room. Lies back. The first phase opens with a single low tone and a near-black field — slow caustics, the faint hint of a mandalic form. Imagery surfaces gradually as the music builds: water, light, figures that resolve and dissolve. Around the apex the room is full of motion and color; then everything settles back toward stillness. The visitor leaves when ready.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9144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C3AED"/>
                </a:solidFill>
                <a:latin typeface="Consolas"/>
              </a:defRPr>
            </a:pPr>
            <a: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 i="0">
                <a:solidFill>
                  <a:srgbClr val="FFFFFF"/>
                </a:solidFill>
                <a:latin typeface="Calibri"/>
              </a:defRPr>
            </a:pPr>
            <a:r>
              <a:t>A small canon.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017520"/>
            <a:ext cx="3337560" cy="2926080"/>
          </a:xfrm>
          <a:prstGeom prst="rect">
            <a:avLst/>
          </a:prstGeom>
          <a:noFill/>
          <a:ln w="12700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329184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Brian Eno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794760"/>
            <a:ext cx="2880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A778F2"/>
                </a:solidFill>
                <a:latin typeface="Consolas"/>
              </a:defRPr>
            </a:pPr>
            <a:r>
              <a:t>77 Million Paintings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4434840"/>
            <a:ext cx="2880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200" b="0" i="0">
                <a:solidFill>
                  <a:srgbClr val="808080"/>
                </a:solidFill>
                <a:latin typeface="Calibri"/>
              </a:defRPr>
            </a:pPr>
            <a:r>
              <a:t>Generative visual companion to ambient music. Proof that slow time finds an audience.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07408" y="3017520"/>
            <a:ext cx="3337560" cy="2926080"/>
          </a:xfrm>
          <a:prstGeom prst="rect">
            <a:avLst/>
          </a:prstGeom>
          <a:noFill/>
          <a:ln w="12700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36008" y="329184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James Turrell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36008" y="3794760"/>
            <a:ext cx="2880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A778F2"/>
                </a:solidFill>
                <a:latin typeface="Consolas"/>
              </a:defRPr>
            </a:pPr>
            <a:r>
              <a:t>Skyspaces (1974— 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8" y="4434840"/>
            <a:ext cx="2880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200" b="0" i="0">
                <a:solidFill>
                  <a:srgbClr val="808080"/>
                </a:solidFill>
                <a:latin typeface="Calibri"/>
              </a:defRPr>
            </a:pPr>
            <a:r>
              <a:t>The dark contemplative room as primary form. No narrative scaffolding. Pure perception.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91856" y="3017520"/>
            <a:ext cx="3337560" cy="2926080"/>
          </a:xfrm>
          <a:prstGeom prst="rect">
            <a:avLst/>
          </a:prstGeom>
          <a:noFill/>
          <a:ln w="12700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0456" y="329184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Ryoji Ikeda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0456" y="3794760"/>
            <a:ext cx="2880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A778F2"/>
                </a:solidFill>
                <a:latin typeface="Consolas"/>
              </a:defRPr>
            </a:pPr>
            <a:r>
              <a:t>test pattern  ·  data.matrix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0456" y="4434840"/>
            <a:ext cx="2880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200" b="0" i="0">
                <a:solidFill>
                  <a:srgbClr val="808080"/>
                </a:solidFill>
                <a:latin typeface="Calibri"/>
              </a:defRPr>
            </a:pPr>
            <a:r>
              <a:t>Sound and light as total sensorium. Room-scale, durational, austere.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2801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C3AED"/>
                </a:solidFill>
                <a:latin typeface="Consolas"/>
              </a:defRPr>
            </a:pPr>
            <a:r>
              <a:t>WHERE IT DIFFERS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00200"/>
            <a:ext cx="10058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7200"/>
              </a:lnSpc>
              <a:defRPr sz="6000" b="1" i="0">
                <a:solidFill>
                  <a:srgbClr val="FFFFFF"/>
                </a:solidFill>
                <a:latin typeface="Calibri"/>
              </a:defRPr>
            </a:pPr>
            <a:r>
              <a:t>Composed first.</a:t>
            </a:r>
            <a:br/>
            <a:r>
              <a:t>AI second.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57200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1400"/>
              </a:spcAft>
              <a:defRPr sz="1500" b="0" i="0">
                <a:solidFill>
                  <a:srgbClr val="808080"/>
                </a:solidFill>
                <a:latin typeface="Calibri"/>
              </a:defRPr>
            </a:pPr>
            <a:r>
              <a:t>The AI-image installation has become a genre — Anadol-flavored generative spectacle, large-format, often impressive, often hollow.</a:t>
            </a:r>
          </a:p>
          <a:p>
            <a:pPr>
              <a:lnSpc>
                <a:spcPts val="2400"/>
              </a:lnSpc>
              <a:defRPr sz="1500" b="0" i="0">
                <a:solidFill>
                  <a:srgbClr val="999999"/>
                </a:solidFill>
                <a:latin typeface="Calibri"/>
              </a:defRPr>
            </a:pPr>
            <a:r>
              <a:t>Resonance is the inverse. Each track is a written piece of music with intent. The visuals serve the music, not the other way around. AI sits inside the journey as a tool. It is not the headline.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9144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C3AED"/>
                </a:solidFill>
                <a:latin typeface="Consolas"/>
              </a:defRPr>
            </a:pPr>
            <a: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200"/>
              </a:lnSpc>
              <a:defRPr sz="4200" b="1" i="0">
                <a:solidFill>
                  <a:srgbClr val="FFFFFF"/>
                </a:solidFill>
                <a:latin typeface="Calibri"/>
              </a:defRPr>
            </a:pPr>
            <a:r>
              <a:t>Slow attention is having a moment.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547872"/>
            <a:ext cx="54864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3383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  <a:defRPr sz="1400" b="0" i="0">
                <a:solidFill>
                  <a:srgbClr val="999999"/>
                </a:solidFill>
                <a:latin typeface="Calibri"/>
              </a:defRPr>
            </a:pPr>
            <a:r>
              <a:t>Hiroshi Yoshimura's Music for Nine Post Cards hit the Billboard charts in 2024 — fifty years after release. Ambient music is mainstream again.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507992"/>
            <a:ext cx="54864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3434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  <a:defRPr sz="1400" b="0" i="0">
                <a:solidFill>
                  <a:srgbClr val="999999"/>
                </a:solidFill>
                <a:latin typeface="Calibri"/>
              </a:defRPr>
            </a:pPr>
            <a:r>
              <a:t>Planetariums are reclaiming a cultural foothold. Hayden, Adler, and Morrison have all renovated and reopened their domes for contemporary programming.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5468112"/>
            <a:ext cx="54864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3035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  <a:defRPr sz="1400" b="0" i="0">
                <a:solidFill>
                  <a:srgbClr val="999999"/>
                </a:solidFill>
                <a:latin typeface="Calibri"/>
              </a:defRPr>
            </a:pPr>
            <a:r>
              <a:t>Sleep No More-era audiences trained themselves on long-form, low-direction experiences. The patience is back.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1264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C3AED"/>
                </a:solidFill>
                <a:latin typeface="Consolas"/>
              </a:defRPr>
            </a:pPr>
            <a:r>
              <a:t>WHO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 i="0">
                <a:solidFill>
                  <a:srgbClr val="FFFFFF"/>
                </a:solidFill>
                <a:latin typeface="Calibri"/>
              </a:defRPr>
            </a:pPr>
            <a:r>
              <a:t>Karel Barnoski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A778F2"/>
                </a:solidFill>
                <a:latin typeface="Calibri"/>
              </a:defRPr>
            </a:pPr>
            <a:r>
              <a:t>Pianist  ·  Composer  ·  Designer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86000"/>
            <a:ext cx="4846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00"/>
              </a:lnSpc>
              <a:spcAft>
                <a:spcPts val="1400"/>
              </a:spcAft>
              <a:defRPr sz="1200" b="0" i="0">
                <a:solidFill>
                  <a:srgbClr val="999999"/>
                </a:solidFill>
                <a:latin typeface="Calibri"/>
              </a:defRPr>
            </a:pPr>
            <a:r>
              <a:t>Pianist and composer. Released Welcome Home, a solo piano album self-produced during quarantine — the source material for many of the journeys in Resonance.</a:t>
            </a:r>
          </a:p>
          <a:p>
            <a:pPr>
              <a:lnSpc>
                <a:spcPts val="1900"/>
              </a:lnSpc>
              <a:defRPr sz="1200" b="0" i="0">
                <a:solidFill>
                  <a:srgbClr val="808080"/>
                </a:solidFill>
                <a:latin typeface="Calibri"/>
              </a:defRPr>
            </a:pPr>
            <a:r>
              <a:t>Design Director at Workday. 15+ years leading UX for enterprise products at Workday, GE, and Kodak. BFA Illustration and MFA Computer Graphics from RIT, with classical training from Barnstone Studios.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860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00"/>
              </a:lnSpc>
              <a:spcAft>
                <a:spcPts val="1400"/>
              </a:spcAft>
              <a:defRPr sz="1200" b="0" i="0">
                <a:solidFill>
                  <a:srgbClr val="808080"/>
                </a:solidFill>
                <a:latin typeface="Calibri"/>
              </a:defRPr>
            </a:pPr>
            <a:r>
              <a:t>Founder of 2octave, an audio design studio specializing in product sonification. Award-winning sounds for products from digital cameras to kitchen appliances. Published in UX Magazine on the science of sound in product design.</a:t>
            </a:r>
          </a:p>
          <a:p>
            <a:pPr>
              <a:lnSpc>
                <a:spcPts val="1900"/>
              </a:lnSpc>
              <a:defRPr sz="1200" b="0" i="0">
                <a:solidFill>
                  <a:srgbClr val="999999"/>
                </a:solidFill>
                <a:latin typeface="Calibri"/>
              </a:defRPr>
            </a:pPr>
            <a:r>
              <a:t>Resonance is the current shape of a multi-year practice translating composed music into shared visual experience. The installation is the natural next room.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7C3AED"/>
                </a:solidFill>
                <a:latin typeface="Consolas"/>
              </a:defRPr>
            </a:pPr>
            <a: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121916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 i="0">
                <a:solidFill>
                  <a:srgbClr val="FFFFFF"/>
                </a:solidFill>
                <a:latin typeface="Calibri"/>
              </a:defRPr>
            </a:pPr>
            <a:r>
              <a:t>Let's talk.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108960"/>
            <a:ext cx="121916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000"/>
              </a:lnSpc>
              <a:defRPr sz="1800" b="0" i="0">
                <a:solidFill>
                  <a:srgbClr val="808080"/>
                </a:solidFill>
                <a:latin typeface="Calibri"/>
              </a:defRPr>
            </a:pPr>
            <a:r>
              <a:t>A one-night event. A multi-week run. A residency.</a:t>
            </a:r>
            <a:br/>
            <a:r>
              <a:t>A slot in an existing program. A conversation.</a:t>
            </a:r>
            <a:br/>
            <a:r>
              <a:t>Whatever shape the fit takes.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12064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1">
                <a:solidFill>
                  <a:srgbClr val="666666"/>
                </a:solidFill>
                <a:latin typeface="Calibri"/>
              </a:defRPr>
            </a:pPr>
            <a:r>
              <a:t>Happy to ship a working prototype, or install in person.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85216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7C3AED"/>
                </a:solidFill>
                <a:latin typeface="Consolas"/>
              </a:defRPr>
            </a:pPr>
            <a:r>
              <a:t>kbarnoski@gmail.com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6217920"/>
            <a:ext cx="1219169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4D4D4D"/>
                </a:solidFill>
                <a:latin typeface="Consolas"/>
              </a:defRPr>
            </a:pPr>
            <a:r>
              <a:t>getresonance.vercel.app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