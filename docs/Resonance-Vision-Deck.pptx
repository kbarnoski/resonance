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2286000"/>
            <a:ext cx="914400" cy="365760"/>
          </a:xfrm>
          <a:prstGeom prst="rect">
            <a:avLst/>
          </a:prstGeom>
          <a:noFill/>
        </p:spPr>
        <p:txBody>
          <a:bodyPr wrap="square">
            <a:spAutoFit/>
          </a:bodyPr>
          <a:lstStyle/>
          <a:p>
            <a:pPr algn="l">
              <a:defRPr sz="2400" b="0" i="0">
                <a:solidFill>
                  <a:srgbClr val="999999"/>
                </a:solidFill>
                <a:latin typeface="Calibri"/>
              </a:defRPr>
            </a:pPr>
            <a:r>
              <a:t>⌇</a:t>
            </a:r>
          </a:p>
        </p:txBody>
      </p:sp>
      <p:sp>
        <p:nvSpPr>
          <p:cNvPr id="3" name="TextBox 2"/>
          <p:cNvSpPr txBox="1"/>
          <p:nvPr/>
        </p:nvSpPr>
        <p:spPr>
          <a:xfrm>
            <a:off x="822960" y="2743200"/>
            <a:ext cx="7315200" cy="914400"/>
          </a:xfrm>
          <a:prstGeom prst="rect">
            <a:avLst/>
          </a:prstGeom>
          <a:noFill/>
        </p:spPr>
        <p:txBody>
          <a:bodyPr wrap="square">
            <a:spAutoFit/>
          </a:bodyPr>
          <a:lstStyle/>
          <a:p>
            <a:pPr algn="l">
              <a:defRPr sz="5200" b="1" i="0">
                <a:solidFill>
                  <a:srgbClr val="FFFFFF"/>
                </a:solidFill>
                <a:latin typeface="Calibri"/>
              </a:defRPr>
            </a:pPr>
            <a:r>
              <a:t>Resonance</a:t>
            </a:r>
          </a:p>
        </p:txBody>
      </p:sp>
      <p:sp>
        <p:nvSpPr>
          <p:cNvPr id="4" name="TextBox 3"/>
          <p:cNvSpPr txBox="1"/>
          <p:nvPr/>
        </p:nvSpPr>
        <p:spPr>
          <a:xfrm>
            <a:off x="822960" y="3749039"/>
            <a:ext cx="7315200" cy="731520"/>
          </a:xfrm>
          <a:prstGeom prst="rect">
            <a:avLst/>
          </a:prstGeom>
          <a:noFill/>
        </p:spPr>
        <p:txBody>
          <a:bodyPr wrap="square">
            <a:spAutoFit/>
          </a:bodyPr>
          <a:lstStyle/>
          <a:p>
            <a:pPr algn="l">
              <a:lnSpc>
                <a:spcPts val="2600"/>
              </a:lnSpc>
              <a:defRPr sz="1700" b="0" i="0">
                <a:solidFill>
                  <a:srgbClr val="808080"/>
                </a:solidFill>
                <a:latin typeface="Calibri"/>
              </a:defRPr>
            </a:pPr>
            <a:r>
              <a:t>A personal audio workspace for musicians who want</a:t>
            </a:r>
            <a:br/>
            <a:r>
              <a:t>to understand, visualize, and experience their music.</a:t>
            </a:r>
          </a:p>
        </p:txBody>
      </p:sp>
      <p:sp>
        <p:nvSpPr>
          <p:cNvPr id="5" name="TextBox 4"/>
          <p:cNvSpPr txBox="1"/>
          <p:nvPr/>
        </p:nvSpPr>
        <p:spPr>
          <a:xfrm>
            <a:off x="822960" y="5943600"/>
            <a:ext cx="7315200" cy="274320"/>
          </a:xfrm>
          <a:prstGeom prst="rect">
            <a:avLst/>
          </a:prstGeom>
          <a:noFill/>
        </p:spPr>
        <p:txBody>
          <a:bodyPr wrap="square">
            <a:spAutoFit/>
          </a:bodyPr>
          <a:lstStyle/>
          <a:p>
            <a:pPr algn="l">
              <a:defRPr sz="900" b="0" i="0">
                <a:solidFill>
                  <a:srgbClr val="404040"/>
                </a:solidFill>
                <a:latin typeface="Consolas"/>
              </a:defRPr>
            </a:pPr>
            <a:r>
              <a:t>KAREL BARNOSKI    |    MARCH 2026    |    V1.0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1280160"/>
            <a:ext cx="2743200" cy="228600"/>
          </a:xfrm>
          <a:prstGeom prst="rect">
            <a:avLst/>
          </a:prstGeom>
          <a:noFill/>
        </p:spPr>
        <p:txBody>
          <a:bodyPr wrap="square">
            <a:spAutoFit/>
          </a:bodyPr>
          <a:lstStyle/>
          <a:p>
            <a:pPr algn="l">
              <a:defRPr sz="900" b="0" i="0">
                <a:solidFill>
                  <a:srgbClr val="7C3AED"/>
                </a:solidFill>
                <a:latin typeface="Consolas"/>
              </a:defRPr>
            </a:pPr>
            <a:r>
              <a:t>THE PROBLEM</a:t>
            </a:r>
          </a:p>
        </p:txBody>
      </p:sp>
      <p:sp>
        <p:nvSpPr>
          <p:cNvPr id="3" name="TextBox 2"/>
          <p:cNvSpPr txBox="1"/>
          <p:nvPr/>
        </p:nvSpPr>
        <p:spPr>
          <a:xfrm>
            <a:off x="822960" y="1600200"/>
            <a:ext cx="9144000" cy="1097280"/>
          </a:xfrm>
          <a:prstGeom prst="rect">
            <a:avLst/>
          </a:prstGeom>
          <a:noFill/>
        </p:spPr>
        <p:txBody>
          <a:bodyPr wrap="square">
            <a:spAutoFit/>
          </a:bodyPr>
          <a:lstStyle/>
          <a:p>
            <a:pPr algn="l">
              <a:lnSpc>
                <a:spcPts val="5600"/>
              </a:lnSpc>
              <a:defRPr sz="4800" b="1" i="0">
                <a:solidFill>
                  <a:srgbClr val="FFFFFF"/>
                </a:solidFill>
                <a:latin typeface="Calibri"/>
              </a:defRPr>
            </a:pPr>
            <a:r>
              <a:t>Musicians capture ideas.</a:t>
            </a:r>
            <a:br/>
            <a:r>
              <a:t>Then forget them.</a:t>
            </a:r>
          </a:p>
        </p:txBody>
      </p:sp>
      <p:sp>
        <p:nvSpPr>
          <p:cNvPr id="4" name="TextBox 3"/>
          <p:cNvSpPr txBox="1"/>
          <p:nvPr/>
        </p:nvSpPr>
        <p:spPr>
          <a:xfrm>
            <a:off x="822960" y="3017520"/>
            <a:ext cx="6400800" cy="1645920"/>
          </a:xfrm>
          <a:prstGeom prst="rect">
            <a:avLst/>
          </a:prstGeom>
          <a:noFill/>
        </p:spPr>
        <p:txBody>
          <a:bodyPr wrap="square">
            <a:spAutoFit/>
          </a:bodyPr>
          <a:lstStyle/>
          <a:p>
            <a:pPr>
              <a:lnSpc>
                <a:spcPts val="2200"/>
              </a:lnSpc>
              <a:spcAft>
                <a:spcPts val="1200"/>
              </a:spcAft>
              <a:defRPr sz="1400" b="0" i="0">
                <a:solidFill>
                  <a:srgbClr val="737373"/>
                </a:solidFill>
                <a:latin typeface="Calibri"/>
              </a:defRPr>
            </a:pPr>
            <a:r>
              <a:t>Hundreds of recordings pile up unnamed in phone folders. "What key was that in?" "What were those chords?" No way to search, compare, or develop ideas without sitting back down at the instrument.</a:t>
            </a:r>
          </a:p>
          <a:p>
            <a:pPr>
              <a:lnSpc>
                <a:spcPts val="2200"/>
              </a:lnSpc>
              <a:spcAft>
                <a:spcPts val="1600"/>
              </a:spcAft>
              <a:defRPr sz="1400" b="0" i="0">
                <a:solidFill>
                  <a:srgbClr val="666666"/>
                </a:solidFill>
                <a:latin typeface="Calibri"/>
              </a:defRPr>
            </a:pPr>
            <a:r>
              <a:t>Creative output goes unanalyzed, undeveloped, lost.</a:t>
            </a:r>
          </a:p>
          <a:p>
            <a:pPr>
              <a:lnSpc>
                <a:spcPts val="2200"/>
              </a:lnSpc>
              <a:defRPr sz="1400" b="0" i="0">
                <a:solidFill>
                  <a:srgbClr val="A778F2"/>
                </a:solidFill>
                <a:latin typeface="Calibri"/>
              </a:defRPr>
            </a:pPr>
            <a:r>
              <a:t>The gap between capturing an idea and understanding it is where songs go to die.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914400"/>
            <a:ext cx="2743200" cy="228600"/>
          </a:xfrm>
          <a:prstGeom prst="rect">
            <a:avLst/>
          </a:prstGeom>
          <a:noFill/>
        </p:spPr>
        <p:txBody>
          <a:bodyPr wrap="square">
            <a:spAutoFit/>
          </a:bodyPr>
          <a:lstStyle/>
          <a:p>
            <a:pPr algn="l">
              <a:defRPr sz="900" b="0" i="0">
                <a:solidFill>
                  <a:srgbClr val="7C3AED"/>
                </a:solidFill>
                <a:latin typeface="Consolas"/>
              </a:defRPr>
            </a:pPr>
            <a:r>
              <a:t>THE SOLUTION</a:t>
            </a:r>
          </a:p>
        </p:txBody>
      </p:sp>
      <p:sp>
        <p:nvSpPr>
          <p:cNvPr id="3" name="TextBox 2"/>
          <p:cNvSpPr txBox="1"/>
          <p:nvPr/>
        </p:nvSpPr>
        <p:spPr>
          <a:xfrm>
            <a:off x="822960" y="1234440"/>
            <a:ext cx="9144000" cy="1097280"/>
          </a:xfrm>
          <a:prstGeom prst="rect">
            <a:avLst/>
          </a:prstGeom>
          <a:noFill/>
        </p:spPr>
        <p:txBody>
          <a:bodyPr wrap="square">
            <a:spAutoFit/>
          </a:bodyPr>
          <a:lstStyle/>
          <a:p>
            <a:pPr algn="l">
              <a:lnSpc>
                <a:spcPts val="5600"/>
              </a:lnSpc>
              <a:defRPr sz="4800" b="1" i="0">
                <a:solidFill>
                  <a:srgbClr val="FFFFFF"/>
                </a:solidFill>
                <a:latin typeface="Calibri"/>
              </a:defRPr>
            </a:pPr>
            <a:r>
              <a:t>Resonance makes every</a:t>
            </a:r>
            <a:br/>
            <a:r>
              <a:t>recording self-aware.</a:t>
            </a:r>
          </a:p>
        </p:txBody>
      </p:sp>
      <p:sp>
        <p:nvSpPr>
          <p:cNvPr id="4" name="TextBox 3"/>
          <p:cNvSpPr txBox="1"/>
          <p:nvPr/>
        </p:nvSpPr>
        <p:spPr>
          <a:xfrm>
            <a:off x="822960" y="2651760"/>
            <a:ext cx="6400800" cy="1828800"/>
          </a:xfrm>
          <a:prstGeom prst="rect">
            <a:avLst/>
          </a:prstGeom>
          <a:noFill/>
        </p:spPr>
        <p:txBody>
          <a:bodyPr wrap="square">
            <a:spAutoFit/>
          </a:bodyPr>
          <a:lstStyle/>
          <a:p>
            <a:pPr>
              <a:lnSpc>
                <a:spcPts val="2200"/>
              </a:lnSpc>
              <a:spcAft>
                <a:spcPts val="1600"/>
              </a:spcAft>
              <a:defRPr sz="1400" b="0" i="0">
                <a:solidFill>
                  <a:srgbClr val="737373"/>
                </a:solidFill>
                <a:latin typeface="Calibri"/>
              </a:defRPr>
            </a:pPr>
            <a:r>
              <a:t>Upload a musical recording. Resonance transcribes it, detects the key, chords, tempo, and progressions — then gives you an AI music theory coach to help develop it.</a:t>
            </a:r>
          </a:p>
          <a:p>
            <a:pPr>
              <a:lnSpc>
                <a:spcPts val="2200"/>
              </a:lnSpc>
              <a:defRPr sz="1400" b="0" i="0">
                <a:solidFill>
                  <a:srgbClr val="737373"/>
                </a:solidFill>
                <a:latin typeface="Calibri"/>
              </a:defRPr>
            </a:pPr>
            <a:r>
              <a:t>But understanding is only half of the experience. Resonance also transforms your music into something you can inhabit — immersive visual worlds shaped by the harmonic DNA of what you've played.</a:t>
            </a:r>
          </a:p>
        </p:txBody>
      </p:sp>
      <p:sp>
        <p:nvSpPr>
          <p:cNvPr id="5" name="Rectangle 4"/>
          <p:cNvSpPr/>
          <p:nvPr/>
        </p:nvSpPr>
        <p:spPr>
          <a:xfrm>
            <a:off x="822960" y="4663440"/>
            <a:ext cx="2560320" cy="36576"/>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0"/>
            <a:ext cx="2377440" cy="274320"/>
          </a:xfrm>
          <a:prstGeom prst="rect">
            <a:avLst/>
          </a:prstGeom>
          <a:noFill/>
        </p:spPr>
        <p:txBody>
          <a:bodyPr wrap="square">
            <a:spAutoFit/>
          </a:bodyPr>
          <a:lstStyle/>
          <a:p>
            <a:pPr algn="l">
              <a:defRPr sz="1400" b="1" i="0">
                <a:solidFill>
                  <a:srgbClr val="FFFFFF"/>
                </a:solidFill>
                <a:latin typeface="Calibri"/>
              </a:defRPr>
            </a:pPr>
            <a:r>
              <a:t>Studio</a:t>
            </a:r>
          </a:p>
        </p:txBody>
      </p:sp>
      <p:sp>
        <p:nvSpPr>
          <p:cNvPr id="7" name="TextBox 6"/>
          <p:cNvSpPr txBox="1"/>
          <p:nvPr/>
        </p:nvSpPr>
        <p:spPr>
          <a:xfrm>
            <a:off x="914400" y="5074920"/>
            <a:ext cx="2377440" cy="457200"/>
          </a:xfrm>
          <a:prstGeom prst="rect">
            <a:avLst/>
          </a:prstGeom>
          <a:noFill/>
        </p:spPr>
        <p:txBody>
          <a:bodyPr wrap="square">
            <a:spAutoFit/>
          </a:bodyPr>
          <a:lstStyle/>
          <a:p>
            <a:pPr algn="l">
              <a:lnSpc>
                <a:spcPts val="1800"/>
              </a:lnSpc>
              <a:defRPr sz="1200" b="0" i="0">
                <a:solidFill>
                  <a:srgbClr val="666666"/>
                </a:solidFill>
                <a:latin typeface="Calibri"/>
              </a:defRPr>
            </a:pPr>
            <a:r>
              <a:t>Analyze, study, and understand your music</a:t>
            </a:r>
          </a:p>
        </p:txBody>
      </p:sp>
      <p:sp>
        <p:nvSpPr>
          <p:cNvPr id="8" name="Rectangle 7"/>
          <p:cNvSpPr/>
          <p:nvPr/>
        </p:nvSpPr>
        <p:spPr>
          <a:xfrm>
            <a:off x="3749040" y="4663440"/>
            <a:ext cx="2560320" cy="36576"/>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0" y="4754880"/>
            <a:ext cx="2377440" cy="274320"/>
          </a:xfrm>
          <a:prstGeom prst="rect">
            <a:avLst/>
          </a:prstGeom>
          <a:noFill/>
        </p:spPr>
        <p:txBody>
          <a:bodyPr wrap="square">
            <a:spAutoFit/>
          </a:bodyPr>
          <a:lstStyle/>
          <a:p>
            <a:pPr algn="l">
              <a:defRPr sz="1400" b="1" i="0">
                <a:solidFill>
                  <a:srgbClr val="FFFFFF"/>
                </a:solidFill>
                <a:latin typeface="Calibri"/>
              </a:defRPr>
            </a:pPr>
            <a:r>
              <a:t>The Room</a:t>
            </a:r>
          </a:p>
        </p:txBody>
      </p:sp>
      <p:sp>
        <p:nvSpPr>
          <p:cNvPr id="10" name="TextBox 9"/>
          <p:cNvSpPr txBox="1"/>
          <p:nvPr/>
        </p:nvSpPr>
        <p:spPr>
          <a:xfrm>
            <a:off x="3840480" y="5074920"/>
            <a:ext cx="2377440" cy="457200"/>
          </a:xfrm>
          <a:prstGeom prst="rect">
            <a:avLst/>
          </a:prstGeom>
          <a:noFill/>
        </p:spPr>
        <p:txBody>
          <a:bodyPr wrap="square">
            <a:spAutoFit/>
          </a:bodyPr>
          <a:lstStyle/>
          <a:p>
            <a:pPr algn="l">
              <a:lnSpc>
                <a:spcPts val="1800"/>
              </a:lnSpc>
              <a:defRPr sz="1200" b="0" i="0">
                <a:solidFill>
                  <a:srgbClr val="666666"/>
                </a:solidFill>
                <a:latin typeface="Calibri"/>
              </a:defRPr>
            </a:pPr>
            <a:r>
              <a:t>An immersive space for music and visuals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2377440"/>
            <a:ext cx="2743200" cy="228600"/>
          </a:xfrm>
          <a:prstGeom prst="rect">
            <a:avLst/>
          </a:prstGeom>
          <a:noFill/>
        </p:spPr>
        <p:txBody>
          <a:bodyPr wrap="square">
            <a:spAutoFit/>
          </a:bodyPr>
          <a:lstStyle/>
          <a:p>
            <a:pPr algn="l">
              <a:defRPr sz="900" b="0" i="0">
                <a:solidFill>
                  <a:srgbClr val="7C3AED"/>
                </a:solidFill>
                <a:latin typeface="Consolas"/>
              </a:defRPr>
            </a:pPr>
            <a:r>
              <a:t>HOW IT WORKS</a:t>
            </a:r>
          </a:p>
        </p:txBody>
      </p:sp>
      <p:sp>
        <p:nvSpPr>
          <p:cNvPr id="3" name="Rectangle 2"/>
          <p:cNvSpPr/>
          <p:nvPr/>
        </p:nvSpPr>
        <p:spPr>
          <a:xfrm>
            <a:off x="822960" y="2926080"/>
            <a:ext cx="2468880" cy="1920240"/>
          </a:xfrm>
          <a:prstGeom prst="rect">
            <a:avLst/>
          </a:prstGeom>
          <a:no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108960"/>
            <a:ext cx="457200" cy="228600"/>
          </a:xfrm>
          <a:prstGeom prst="rect">
            <a:avLst/>
          </a:prstGeom>
          <a:noFill/>
        </p:spPr>
        <p:txBody>
          <a:bodyPr wrap="square">
            <a:spAutoFit/>
          </a:bodyPr>
          <a:lstStyle/>
          <a:p>
            <a:pPr algn="l">
              <a:defRPr sz="1000" b="0" i="0">
                <a:solidFill>
                  <a:srgbClr val="7C3AED"/>
                </a:solidFill>
                <a:latin typeface="Consolas"/>
              </a:defRPr>
            </a:pPr>
            <a:r>
              <a:t>01</a:t>
            </a:r>
          </a:p>
        </p:txBody>
      </p:sp>
      <p:sp>
        <p:nvSpPr>
          <p:cNvPr id="5" name="TextBox 4"/>
          <p:cNvSpPr txBox="1"/>
          <p:nvPr/>
        </p:nvSpPr>
        <p:spPr>
          <a:xfrm>
            <a:off x="1005840" y="3474720"/>
            <a:ext cx="2103120" cy="320040"/>
          </a:xfrm>
          <a:prstGeom prst="rect">
            <a:avLst/>
          </a:prstGeom>
          <a:noFill/>
        </p:spPr>
        <p:txBody>
          <a:bodyPr wrap="square">
            <a:spAutoFit/>
          </a:bodyPr>
          <a:lstStyle/>
          <a:p>
            <a:pPr algn="l">
              <a:defRPr sz="1800" b="1" i="0">
                <a:solidFill>
                  <a:srgbClr val="FFFFFF"/>
                </a:solidFill>
                <a:latin typeface="Calibri"/>
              </a:defRPr>
            </a:pPr>
            <a:r>
              <a:t>Upload</a:t>
            </a:r>
          </a:p>
        </p:txBody>
      </p:sp>
      <p:sp>
        <p:nvSpPr>
          <p:cNvPr id="6" name="TextBox 5"/>
          <p:cNvSpPr txBox="1"/>
          <p:nvPr/>
        </p:nvSpPr>
        <p:spPr>
          <a:xfrm>
            <a:off x="1005840" y="3931920"/>
            <a:ext cx="2103120" cy="822960"/>
          </a:xfrm>
          <a:prstGeom prst="rect">
            <a:avLst/>
          </a:prstGeom>
          <a:noFill/>
        </p:spPr>
        <p:txBody>
          <a:bodyPr wrap="square">
            <a:spAutoFit/>
          </a:bodyPr>
          <a:lstStyle/>
          <a:p>
            <a:pPr algn="l">
              <a:lnSpc>
                <a:spcPts val="1700"/>
              </a:lnSpc>
              <a:defRPr sz="1100" b="0" i="0">
                <a:solidFill>
                  <a:srgbClr val="666666"/>
                </a:solidFill>
                <a:latin typeface="Calibri"/>
              </a:defRPr>
            </a:pPr>
            <a:r>
              <a:t>Drag and drop your recordings. M4A, MP3, WAV. iPhone voice memos work perfectly.</a:t>
            </a:r>
          </a:p>
        </p:txBody>
      </p:sp>
      <p:sp>
        <p:nvSpPr>
          <p:cNvPr id="7" name="Rectangle 6"/>
          <p:cNvSpPr/>
          <p:nvPr/>
        </p:nvSpPr>
        <p:spPr>
          <a:xfrm>
            <a:off x="3474720" y="2926080"/>
            <a:ext cx="2468880" cy="1920240"/>
          </a:xfrm>
          <a:prstGeom prst="rect">
            <a:avLst/>
          </a:prstGeom>
          <a:no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3108960"/>
            <a:ext cx="457200" cy="228600"/>
          </a:xfrm>
          <a:prstGeom prst="rect">
            <a:avLst/>
          </a:prstGeom>
          <a:noFill/>
        </p:spPr>
        <p:txBody>
          <a:bodyPr wrap="square">
            <a:spAutoFit/>
          </a:bodyPr>
          <a:lstStyle/>
          <a:p>
            <a:pPr algn="l">
              <a:defRPr sz="1000" b="0" i="0">
                <a:solidFill>
                  <a:srgbClr val="7C3AED"/>
                </a:solidFill>
                <a:latin typeface="Consolas"/>
              </a:defRPr>
            </a:pPr>
            <a:r>
              <a:t>02</a:t>
            </a:r>
          </a:p>
        </p:txBody>
      </p:sp>
      <p:sp>
        <p:nvSpPr>
          <p:cNvPr id="9" name="TextBox 8"/>
          <p:cNvSpPr txBox="1"/>
          <p:nvPr/>
        </p:nvSpPr>
        <p:spPr>
          <a:xfrm>
            <a:off x="3657600" y="3474720"/>
            <a:ext cx="2103120" cy="320040"/>
          </a:xfrm>
          <a:prstGeom prst="rect">
            <a:avLst/>
          </a:prstGeom>
          <a:noFill/>
        </p:spPr>
        <p:txBody>
          <a:bodyPr wrap="square">
            <a:spAutoFit/>
          </a:bodyPr>
          <a:lstStyle/>
          <a:p>
            <a:pPr algn="l">
              <a:defRPr sz="1800" b="1" i="0">
                <a:solidFill>
                  <a:srgbClr val="FFFFFF"/>
                </a:solidFill>
                <a:latin typeface="Calibri"/>
              </a:defRPr>
            </a:pPr>
            <a:r>
              <a:t>Analyze</a:t>
            </a:r>
          </a:p>
        </p:txBody>
      </p:sp>
      <p:sp>
        <p:nvSpPr>
          <p:cNvPr id="10" name="TextBox 9"/>
          <p:cNvSpPr txBox="1"/>
          <p:nvPr/>
        </p:nvSpPr>
        <p:spPr>
          <a:xfrm>
            <a:off x="3657600" y="3931920"/>
            <a:ext cx="2103120" cy="822960"/>
          </a:xfrm>
          <a:prstGeom prst="rect">
            <a:avLst/>
          </a:prstGeom>
          <a:noFill/>
        </p:spPr>
        <p:txBody>
          <a:bodyPr wrap="square">
            <a:spAutoFit/>
          </a:bodyPr>
          <a:lstStyle/>
          <a:p>
            <a:pPr algn="l">
              <a:lnSpc>
                <a:spcPts val="1700"/>
              </a:lnSpc>
              <a:defRPr sz="1100" b="0" i="0">
                <a:solidFill>
                  <a:srgbClr val="666666"/>
                </a:solidFill>
                <a:latin typeface="Calibri"/>
              </a:defRPr>
            </a:pPr>
            <a:r>
              <a:t>AI transcribes notes, detects key, chords, tempo, time signature, and recurring progressions.</a:t>
            </a:r>
          </a:p>
        </p:txBody>
      </p:sp>
      <p:sp>
        <p:nvSpPr>
          <p:cNvPr id="11" name="Rectangle 10"/>
          <p:cNvSpPr/>
          <p:nvPr/>
        </p:nvSpPr>
        <p:spPr>
          <a:xfrm>
            <a:off x="6126480" y="2926080"/>
            <a:ext cx="2468880" cy="1920240"/>
          </a:xfrm>
          <a:prstGeom prst="rect">
            <a:avLst/>
          </a:prstGeom>
          <a:no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3108960"/>
            <a:ext cx="457200" cy="228600"/>
          </a:xfrm>
          <a:prstGeom prst="rect">
            <a:avLst/>
          </a:prstGeom>
          <a:noFill/>
        </p:spPr>
        <p:txBody>
          <a:bodyPr wrap="square">
            <a:spAutoFit/>
          </a:bodyPr>
          <a:lstStyle/>
          <a:p>
            <a:pPr algn="l">
              <a:defRPr sz="1000" b="0" i="0">
                <a:solidFill>
                  <a:srgbClr val="7C3AED"/>
                </a:solidFill>
                <a:latin typeface="Consolas"/>
              </a:defRPr>
            </a:pPr>
            <a:r>
              <a:t>03</a:t>
            </a:r>
          </a:p>
        </p:txBody>
      </p:sp>
      <p:sp>
        <p:nvSpPr>
          <p:cNvPr id="13" name="TextBox 12"/>
          <p:cNvSpPr txBox="1"/>
          <p:nvPr/>
        </p:nvSpPr>
        <p:spPr>
          <a:xfrm>
            <a:off x="6309360" y="3474720"/>
            <a:ext cx="2103120" cy="320040"/>
          </a:xfrm>
          <a:prstGeom prst="rect">
            <a:avLst/>
          </a:prstGeom>
          <a:noFill/>
        </p:spPr>
        <p:txBody>
          <a:bodyPr wrap="square">
            <a:spAutoFit/>
          </a:bodyPr>
          <a:lstStyle/>
          <a:p>
            <a:pPr algn="l">
              <a:defRPr sz="1800" b="1" i="0">
                <a:solidFill>
                  <a:srgbClr val="FFFFFF"/>
                </a:solidFill>
                <a:latin typeface="Calibri"/>
              </a:defRPr>
            </a:pPr>
            <a:r>
              <a:t>Understand</a:t>
            </a:r>
          </a:p>
        </p:txBody>
      </p:sp>
      <p:sp>
        <p:nvSpPr>
          <p:cNvPr id="14" name="TextBox 13"/>
          <p:cNvSpPr txBox="1"/>
          <p:nvPr/>
        </p:nvSpPr>
        <p:spPr>
          <a:xfrm>
            <a:off x="6309360" y="3931920"/>
            <a:ext cx="2103120" cy="822960"/>
          </a:xfrm>
          <a:prstGeom prst="rect">
            <a:avLst/>
          </a:prstGeom>
          <a:noFill/>
        </p:spPr>
        <p:txBody>
          <a:bodyPr wrap="square">
            <a:spAutoFit/>
          </a:bodyPr>
          <a:lstStyle/>
          <a:p>
            <a:pPr algn="l">
              <a:lnSpc>
                <a:spcPts val="1700"/>
              </a:lnSpc>
              <a:defRPr sz="1100" b="0" i="0">
                <a:solidFill>
                  <a:srgbClr val="666666"/>
                </a:solidFill>
                <a:latin typeface="Calibri"/>
              </a:defRPr>
            </a:pPr>
            <a:r>
              <a:t>Teaching summaries break down sections. Chat with AI about harmony, development, style.</a:t>
            </a:r>
          </a:p>
        </p:txBody>
      </p:sp>
      <p:sp>
        <p:nvSpPr>
          <p:cNvPr id="15" name="Rectangle 14"/>
          <p:cNvSpPr/>
          <p:nvPr/>
        </p:nvSpPr>
        <p:spPr>
          <a:xfrm>
            <a:off x="8778240" y="2926080"/>
            <a:ext cx="2468880" cy="1920240"/>
          </a:xfrm>
          <a:prstGeom prst="rect">
            <a:avLst/>
          </a:prstGeom>
          <a:noFill/>
          <a:ln w="12700">
            <a:solidFill>
              <a:srgbClr val="26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0" y="3108960"/>
            <a:ext cx="457200" cy="228600"/>
          </a:xfrm>
          <a:prstGeom prst="rect">
            <a:avLst/>
          </a:prstGeom>
          <a:noFill/>
        </p:spPr>
        <p:txBody>
          <a:bodyPr wrap="square">
            <a:spAutoFit/>
          </a:bodyPr>
          <a:lstStyle/>
          <a:p>
            <a:pPr algn="l">
              <a:defRPr sz="1000" b="0" i="0">
                <a:solidFill>
                  <a:srgbClr val="7C3AED"/>
                </a:solidFill>
                <a:latin typeface="Consolas"/>
              </a:defRPr>
            </a:pPr>
            <a:r>
              <a:t>04</a:t>
            </a:r>
          </a:p>
        </p:txBody>
      </p:sp>
      <p:sp>
        <p:nvSpPr>
          <p:cNvPr id="17" name="TextBox 16"/>
          <p:cNvSpPr txBox="1"/>
          <p:nvPr/>
        </p:nvSpPr>
        <p:spPr>
          <a:xfrm>
            <a:off x="8961120" y="3474720"/>
            <a:ext cx="2103120" cy="320040"/>
          </a:xfrm>
          <a:prstGeom prst="rect">
            <a:avLst/>
          </a:prstGeom>
          <a:noFill/>
        </p:spPr>
        <p:txBody>
          <a:bodyPr wrap="square">
            <a:spAutoFit/>
          </a:bodyPr>
          <a:lstStyle/>
          <a:p>
            <a:pPr algn="l">
              <a:defRPr sz="1800" b="1" i="0">
                <a:solidFill>
                  <a:srgbClr val="FFFFFF"/>
                </a:solidFill>
                <a:latin typeface="Calibri"/>
              </a:defRPr>
            </a:pPr>
            <a:r>
              <a:t>Experience &amp; Share</a:t>
            </a:r>
          </a:p>
        </p:txBody>
      </p:sp>
      <p:sp>
        <p:nvSpPr>
          <p:cNvPr id="18" name="TextBox 17"/>
          <p:cNvSpPr txBox="1"/>
          <p:nvPr/>
        </p:nvSpPr>
        <p:spPr>
          <a:xfrm>
            <a:off x="8961120" y="3931920"/>
            <a:ext cx="2103120" cy="822960"/>
          </a:xfrm>
          <a:prstGeom prst="rect">
            <a:avLst/>
          </a:prstGeom>
          <a:noFill/>
        </p:spPr>
        <p:txBody>
          <a:bodyPr wrap="square">
            <a:spAutoFit/>
          </a:bodyPr>
          <a:lstStyle/>
          <a:p>
            <a:pPr algn="l">
              <a:lnSpc>
                <a:spcPts val="1700"/>
              </a:lnSpc>
              <a:defRPr sz="1100" b="0" i="0">
                <a:solidFill>
                  <a:srgbClr val="666666"/>
                </a:solidFill>
                <a:latin typeface="Calibri"/>
              </a:defRPr>
            </a:pPr>
            <a:r>
              <a:t>Step into The Room. Your music becomes visual worlds — shaders, poetry, AI imagery. Share a link and anyone can step inside.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612648"/>
            <a:ext cx="2743200" cy="228600"/>
          </a:xfrm>
          <a:prstGeom prst="rect">
            <a:avLst/>
          </a:prstGeom>
          <a:noFill/>
        </p:spPr>
        <p:txBody>
          <a:bodyPr wrap="square">
            <a:spAutoFit/>
          </a:bodyPr>
          <a:lstStyle/>
          <a:p>
            <a:pPr algn="l">
              <a:defRPr sz="900" b="0" i="0">
                <a:solidFill>
                  <a:srgbClr val="7C3AED"/>
                </a:solidFill>
                <a:latin typeface="Consolas"/>
              </a:defRPr>
            </a:pPr>
            <a:r>
              <a:t>STUDIO</a:t>
            </a:r>
          </a:p>
        </p:txBody>
      </p:sp>
      <p:sp>
        <p:nvSpPr>
          <p:cNvPr id="3" name="TextBox 2"/>
          <p:cNvSpPr txBox="1"/>
          <p:nvPr/>
        </p:nvSpPr>
        <p:spPr>
          <a:xfrm>
            <a:off x="822960" y="868680"/>
            <a:ext cx="9144000" cy="640080"/>
          </a:xfrm>
          <a:prstGeom prst="rect">
            <a:avLst/>
          </a:prstGeom>
          <a:noFill/>
        </p:spPr>
        <p:txBody>
          <a:bodyPr wrap="square">
            <a:spAutoFit/>
          </a:bodyPr>
          <a:lstStyle/>
          <a:p>
            <a:pPr algn="l">
              <a:defRPr sz="4200" b="1" i="0">
                <a:solidFill>
                  <a:srgbClr val="FFFFFF"/>
                </a:solidFill>
                <a:latin typeface="Calibri"/>
              </a:defRPr>
            </a:pPr>
            <a:r>
              <a:t>Your analytical workspace.</a:t>
            </a:r>
          </a:p>
        </p:txBody>
      </p:sp>
      <p:sp>
        <p:nvSpPr>
          <p:cNvPr id="4" name="TextBox 3"/>
          <p:cNvSpPr txBox="1"/>
          <p:nvPr/>
        </p:nvSpPr>
        <p:spPr>
          <a:xfrm>
            <a:off x="822960" y="1828800"/>
            <a:ext cx="2468880" cy="228600"/>
          </a:xfrm>
          <a:prstGeom prst="rect">
            <a:avLst/>
          </a:prstGeom>
          <a:noFill/>
        </p:spPr>
        <p:txBody>
          <a:bodyPr wrap="square">
            <a:spAutoFit/>
          </a:bodyPr>
          <a:lstStyle/>
          <a:p>
            <a:pPr algn="l">
              <a:defRPr sz="1300" b="1" i="0">
                <a:solidFill>
                  <a:srgbClr val="FFFFFF"/>
                </a:solidFill>
                <a:latin typeface="Calibri"/>
              </a:defRPr>
            </a:pPr>
            <a:r>
              <a:t>AI Analysis Pipeline</a:t>
            </a:r>
          </a:p>
        </p:txBody>
      </p:sp>
      <p:sp>
        <p:nvSpPr>
          <p:cNvPr id="5" name="TextBox 4"/>
          <p:cNvSpPr txBox="1"/>
          <p:nvPr/>
        </p:nvSpPr>
        <p:spPr>
          <a:xfrm>
            <a:off x="822960" y="2148840"/>
            <a:ext cx="2468880" cy="822960"/>
          </a:xfrm>
          <a:prstGeom prst="rect">
            <a:avLst/>
          </a:prstGeom>
          <a:noFill/>
        </p:spPr>
        <p:txBody>
          <a:bodyPr wrap="square">
            <a:spAutoFit/>
          </a:bodyPr>
          <a:lstStyle/>
          <a:p>
            <a:pPr algn="l">
              <a:lnSpc>
                <a:spcPts val="1700"/>
              </a:lnSpc>
              <a:defRPr sz="1100" b="0" i="0">
                <a:solidFill>
                  <a:srgbClr val="666666"/>
                </a:solidFill>
                <a:latin typeface="Calibri"/>
              </a:defRPr>
            </a:pPr>
            <a:r>
              <a:t>Client-side note transcription, key detection, chord detection with inversions, tempo, time signature, recurring progressions. MIDI export.</a:t>
            </a:r>
          </a:p>
        </p:txBody>
      </p:sp>
      <p:sp>
        <p:nvSpPr>
          <p:cNvPr id="6" name="TextBox 5"/>
          <p:cNvSpPr txBox="1"/>
          <p:nvPr/>
        </p:nvSpPr>
        <p:spPr>
          <a:xfrm>
            <a:off x="3566160" y="1828800"/>
            <a:ext cx="2468880" cy="228600"/>
          </a:xfrm>
          <a:prstGeom prst="rect">
            <a:avLst/>
          </a:prstGeom>
          <a:noFill/>
        </p:spPr>
        <p:txBody>
          <a:bodyPr wrap="square">
            <a:spAutoFit/>
          </a:bodyPr>
          <a:lstStyle/>
          <a:p>
            <a:pPr algn="l">
              <a:defRPr sz="1300" b="1" i="0">
                <a:solidFill>
                  <a:srgbClr val="FFFFFF"/>
                </a:solidFill>
                <a:latin typeface="Calibri"/>
              </a:defRPr>
            </a:pPr>
            <a:r>
              <a:t>Teaching Summaries</a:t>
            </a:r>
          </a:p>
        </p:txBody>
      </p:sp>
      <p:sp>
        <p:nvSpPr>
          <p:cNvPr id="7" name="TextBox 6"/>
          <p:cNvSpPr txBox="1"/>
          <p:nvPr/>
        </p:nvSpPr>
        <p:spPr>
          <a:xfrm>
            <a:off x="3566160" y="2148840"/>
            <a:ext cx="2468880" cy="822960"/>
          </a:xfrm>
          <a:prstGeom prst="rect">
            <a:avLst/>
          </a:prstGeom>
          <a:noFill/>
        </p:spPr>
        <p:txBody>
          <a:bodyPr wrap="square">
            <a:spAutoFit/>
          </a:bodyPr>
          <a:lstStyle/>
          <a:p>
            <a:pPr algn="l">
              <a:lnSpc>
                <a:spcPts val="1700"/>
              </a:lnSpc>
              <a:defRPr sz="1100" b="0" i="0">
                <a:solidFill>
                  <a:srgbClr val="666666"/>
                </a:solidFill>
                <a:latin typeface="Calibri"/>
              </a:defRPr>
            </a:pPr>
            <a:r>
              <a:t>AI-generated section breakdowns, harmonic vocabulary, relearning tips. Structured to help you sit back down and play.</a:t>
            </a:r>
          </a:p>
        </p:txBody>
      </p:sp>
      <p:sp>
        <p:nvSpPr>
          <p:cNvPr id="8" name="TextBox 7"/>
          <p:cNvSpPr txBox="1"/>
          <p:nvPr/>
        </p:nvSpPr>
        <p:spPr>
          <a:xfrm>
            <a:off x="6309360" y="1828800"/>
            <a:ext cx="2468880" cy="228600"/>
          </a:xfrm>
          <a:prstGeom prst="rect">
            <a:avLst/>
          </a:prstGeom>
          <a:noFill/>
        </p:spPr>
        <p:txBody>
          <a:bodyPr wrap="square">
            <a:spAutoFit/>
          </a:bodyPr>
          <a:lstStyle/>
          <a:p>
            <a:pPr algn="l">
              <a:defRPr sz="1300" b="1" i="0">
                <a:solidFill>
                  <a:srgbClr val="FFFFFF"/>
                </a:solidFill>
                <a:latin typeface="Calibri"/>
              </a:defRPr>
            </a:pPr>
            <a:r>
              <a:t>Music Theory Chat</a:t>
            </a:r>
          </a:p>
        </p:txBody>
      </p:sp>
      <p:sp>
        <p:nvSpPr>
          <p:cNvPr id="9" name="TextBox 8"/>
          <p:cNvSpPr txBox="1"/>
          <p:nvPr/>
        </p:nvSpPr>
        <p:spPr>
          <a:xfrm>
            <a:off x="6309360" y="2148840"/>
            <a:ext cx="2468880" cy="822960"/>
          </a:xfrm>
          <a:prstGeom prst="rect">
            <a:avLst/>
          </a:prstGeom>
          <a:noFill/>
        </p:spPr>
        <p:txBody>
          <a:bodyPr wrap="square">
            <a:spAutoFit/>
          </a:bodyPr>
          <a:lstStyle/>
          <a:p>
            <a:pPr algn="l">
              <a:lnSpc>
                <a:spcPts val="1700"/>
              </a:lnSpc>
              <a:defRPr sz="1100" b="0" i="0">
                <a:solidFill>
                  <a:srgbClr val="666666"/>
                </a:solidFill>
                <a:latin typeface="Calibri"/>
              </a:defRPr>
            </a:pPr>
            <a:r>
              <a:t>Per-recording, comparison, and library-wide AI conversations grounded in your analysis data.</a:t>
            </a:r>
          </a:p>
        </p:txBody>
      </p:sp>
      <p:sp>
        <p:nvSpPr>
          <p:cNvPr id="10" name="TextBox 9"/>
          <p:cNvSpPr txBox="1"/>
          <p:nvPr/>
        </p:nvSpPr>
        <p:spPr>
          <a:xfrm>
            <a:off x="9052560" y="1828800"/>
            <a:ext cx="2468880" cy="228600"/>
          </a:xfrm>
          <a:prstGeom prst="rect">
            <a:avLst/>
          </a:prstGeom>
          <a:noFill/>
        </p:spPr>
        <p:txBody>
          <a:bodyPr wrap="square">
            <a:spAutoFit/>
          </a:bodyPr>
          <a:lstStyle/>
          <a:p>
            <a:pPr algn="l">
              <a:defRPr sz="1300" b="1" i="0">
                <a:solidFill>
                  <a:srgbClr val="FFFFFF"/>
                </a:solidFill>
                <a:latin typeface="Calibri"/>
              </a:defRPr>
            </a:pPr>
            <a:r>
              <a:t>Smart Library</a:t>
            </a:r>
          </a:p>
        </p:txBody>
      </p:sp>
      <p:sp>
        <p:nvSpPr>
          <p:cNvPr id="11" name="TextBox 10"/>
          <p:cNvSpPr txBox="1"/>
          <p:nvPr/>
        </p:nvSpPr>
        <p:spPr>
          <a:xfrm>
            <a:off x="9052560" y="2148840"/>
            <a:ext cx="2468880" cy="822960"/>
          </a:xfrm>
          <a:prstGeom prst="rect">
            <a:avLst/>
          </a:prstGeom>
          <a:noFill/>
        </p:spPr>
        <p:txBody>
          <a:bodyPr wrap="square">
            <a:spAutoFit/>
          </a:bodyPr>
          <a:lstStyle/>
          <a:p>
            <a:pPr algn="l">
              <a:lnSpc>
                <a:spcPts val="1700"/>
              </a:lnSpc>
              <a:defRPr sz="1100" b="0" i="0">
                <a:solidFill>
                  <a:srgbClr val="666666"/>
                </a:solidFill>
                <a:latin typeface="Calibri"/>
              </a:defRPr>
            </a:pPr>
            <a:r>
              <a:t>Search, tag, and organize recordings. Collections, inline editing, full metadata display.</a:t>
            </a:r>
          </a:p>
        </p:txBody>
      </p:sp>
      <p:sp>
        <p:nvSpPr>
          <p:cNvPr id="12" name="TextBox 11"/>
          <p:cNvSpPr txBox="1"/>
          <p:nvPr/>
        </p:nvSpPr>
        <p:spPr>
          <a:xfrm>
            <a:off x="822960" y="3200400"/>
            <a:ext cx="2468880" cy="228600"/>
          </a:xfrm>
          <a:prstGeom prst="rect">
            <a:avLst/>
          </a:prstGeom>
          <a:noFill/>
        </p:spPr>
        <p:txBody>
          <a:bodyPr wrap="square">
            <a:spAutoFit/>
          </a:bodyPr>
          <a:lstStyle/>
          <a:p>
            <a:pPr algn="l">
              <a:defRPr sz="1300" b="1" i="0">
                <a:solidFill>
                  <a:srgbClr val="FFFFFF"/>
                </a:solidFill>
                <a:latin typeface="Calibri"/>
              </a:defRPr>
            </a:pPr>
            <a:r>
              <a:t>Insights Dashboard</a:t>
            </a:r>
          </a:p>
        </p:txBody>
      </p:sp>
      <p:sp>
        <p:nvSpPr>
          <p:cNvPr id="13" name="TextBox 12"/>
          <p:cNvSpPr txBox="1"/>
          <p:nvPr/>
        </p:nvSpPr>
        <p:spPr>
          <a:xfrm>
            <a:off x="822960" y="3520440"/>
            <a:ext cx="2468880" cy="822960"/>
          </a:xfrm>
          <a:prstGeom prst="rect">
            <a:avLst/>
          </a:prstGeom>
          <a:noFill/>
        </p:spPr>
        <p:txBody>
          <a:bodyPr wrap="square">
            <a:spAutoFit/>
          </a:bodyPr>
          <a:lstStyle/>
          <a:p>
            <a:pPr algn="l">
              <a:lnSpc>
                <a:spcPts val="1700"/>
              </a:lnSpc>
              <a:defRPr sz="1100" b="0" i="0">
                <a:solidFill>
                  <a:srgbClr val="666666"/>
                </a:solidFill>
                <a:latin typeface="Calibri"/>
              </a:defRPr>
            </a:pPr>
            <a:r>
              <a:t>Musical DNA, key distribution, chord frequency, cross-recording similarity, AI-generated library portrait.</a:t>
            </a:r>
          </a:p>
        </p:txBody>
      </p:sp>
      <p:sp>
        <p:nvSpPr>
          <p:cNvPr id="14" name="TextBox 13"/>
          <p:cNvSpPr txBox="1"/>
          <p:nvPr/>
        </p:nvSpPr>
        <p:spPr>
          <a:xfrm>
            <a:off x="3566160" y="3200400"/>
            <a:ext cx="2468880" cy="228600"/>
          </a:xfrm>
          <a:prstGeom prst="rect">
            <a:avLst/>
          </a:prstGeom>
          <a:noFill/>
        </p:spPr>
        <p:txBody>
          <a:bodyPr wrap="square">
            <a:spAutoFit/>
          </a:bodyPr>
          <a:lstStyle/>
          <a:p>
            <a:pPr algn="l">
              <a:defRPr sz="1300" b="1" i="0">
                <a:solidFill>
                  <a:srgbClr val="FFFFFF"/>
                </a:solidFill>
                <a:latin typeface="Calibri"/>
              </a:defRPr>
            </a:pPr>
            <a:r>
              <a:t>Visual Analysis Tools</a:t>
            </a:r>
          </a:p>
        </p:txBody>
      </p:sp>
      <p:sp>
        <p:nvSpPr>
          <p:cNvPr id="15" name="TextBox 14"/>
          <p:cNvSpPr txBox="1"/>
          <p:nvPr/>
        </p:nvSpPr>
        <p:spPr>
          <a:xfrm>
            <a:off x="3566160" y="3520440"/>
            <a:ext cx="2468880" cy="822960"/>
          </a:xfrm>
          <a:prstGeom prst="rect">
            <a:avLst/>
          </a:prstGeom>
          <a:noFill/>
        </p:spPr>
        <p:txBody>
          <a:bodyPr wrap="square">
            <a:spAutoFit/>
          </a:bodyPr>
          <a:lstStyle/>
          <a:p>
            <a:pPr algn="l">
              <a:lnSpc>
                <a:spcPts val="1700"/>
              </a:lnSpc>
              <a:defRPr sz="1100" b="0" i="0">
                <a:solidFill>
                  <a:srgbClr val="666666"/>
                </a:solidFill>
                <a:latin typeface="Calibri"/>
              </a:defRPr>
            </a:pPr>
            <a:r>
              <a:t>Waveform player, chord timeline with synced playhead, piano roll with velocity, time-stamped markers.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612648"/>
            <a:ext cx="2743200" cy="228600"/>
          </a:xfrm>
          <a:prstGeom prst="rect">
            <a:avLst/>
          </a:prstGeom>
          <a:noFill/>
        </p:spPr>
        <p:txBody>
          <a:bodyPr wrap="square">
            <a:spAutoFit/>
          </a:bodyPr>
          <a:lstStyle/>
          <a:p>
            <a:pPr algn="l">
              <a:defRPr sz="900" b="0" i="0">
                <a:solidFill>
                  <a:srgbClr val="7C3AED"/>
                </a:solidFill>
                <a:latin typeface="Consolas"/>
              </a:defRPr>
            </a:pPr>
            <a:r>
              <a:t>THE ROOM</a:t>
            </a:r>
          </a:p>
        </p:txBody>
      </p:sp>
      <p:sp>
        <p:nvSpPr>
          <p:cNvPr id="3" name="TextBox 2"/>
          <p:cNvSpPr txBox="1"/>
          <p:nvPr/>
        </p:nvSpPr>
        <p:spPr>
          <a:xfrm>
            <a:off x="822960" y="868680"/>
            <a:ext cx="9144000" cy="640080"/>
          </a:xfrm>
          <a:prstGeom prst="rect">
            <a:avLst/>
          </a:prstGeom>
          <a:noFill/>
        </p:spPr>
        <p:txBody>
          <a:bodyPr wrap="square">
            <a:spAutoFit/>
          </a:bodyPr>
          <a:lstStyle/>
          <a:p>
            <a:pPr algn="l">
              <a:defRPr sz="4200" b="1" i="0">
                <a:solidFill>
                  <a:srgbClr val="FFFFFF"/>
                </a:solidFill>
                <a:latin typeface="Calibri"/>
              </a:defRPr>
            </a:pPr>
            <a:r>
              <a:t>Step inside your music.</a:t>
            </a:r>
          </a:p>
        </p:txBody>
      </p:sp>
      <p:sp>
        <p:nvSpPr>
          <p:cNvPr id="4" name="TextBox 3"/>
          <p:cNvSpPr txBox="1"/>
          <p:nvPr/>
        </p:nvSpPr>
        <p:spPr>
          <a:xfrm>
            <a:off x="822960" y="1828800"/>
            <a:ext cx="3200400" cy="228600"/>
          </a:xfrm>
          <a:prstGeom prst="rect">
            <a:avLst/>
          </a:prstGeom>
          <a:noFill/>
        </p:spPr>
        <p:txBody>
          <a:bodyPr wrap="square">
            <a:spAutoFit/>
          </a:bodyPr>
          <a:lstStyle/>
          <a:p>
            <a:pPr algn="l">
              <a:defRPr sz="1300" b="1" i="0">
                <a:solidFill>
                  <a:srgbClr val="FFFFFF"/>
                </a:solidFill>
                <a:latin typeface="Calibri"/>
              </a:defRPr>
            </a:pPr>
            <a:r>
              <a:t>200+ Shader Visualizations</a:t>
            </a:r>
          </a:p>
        </p:txBody>
      </p:sp>
      <p:sp>
        <p:nvSpPr>
          <p:cNvPr id="5" name="TextBox 4"/>
          <p:cNvSpPr txBox="1"/>
          <p:nvPr/>
        </p:nvSpPr>
        <p:spPr>
          <a:xfrm>
            <a:off x="822960" y="2148840"/>
            <a:ext cx="3200400" cy="731520"/>
          </a:xfrm>
          <a:prstGeom prst="rect">
            <a:avLst/>
          </a:prstGeom>
          <a:noFill/>
        </p:spPr>
        <p:txBody>
          <a:bodyPr wrap="square">
            <a:spAutoFit/>
          </a:bodyPr>
          <a:lstStyle/>
          <a:p>
            <a:pPr algn="l">
              <a:lnSpc>
                <a:spcPts val="1700"/>
              </a:lnSpc>
              <a:defRPr sz="1100" b="0" i="0">
                <a:solidFill>
                  <a:srgbClr val="666666"/>
                </a:solidFill>
                <a:latin typeface="Calibri"/>
              </a:defRPr>
            </a:pPr>
            <a:r>
              <a:t>Six categories — Elemental, Visionary, Cosmic, Organic, Geometry, Dark — plus immersive 3D worlds. Smooth crossfades between modes.</a:t>
            </a:r>
          </a:p>
        </p:txBody>
      </p:sp>
      <p:sp>
        <p:nvSpPr>
          <p:cNvPr id="6" name="TextBox 5"/>
          <p:cNvSpPr txBox="1"/>
          <p:nvPr/>
        </p:nvSpPr>
        <p:spPr>
          <a:xfrm>
            <a:off x="4389120" y="1828800"/>
            <a:ext cx="3200400" cy="228600"/>
          </a:xfrm>
          <a:prstGeom prst="rect">
            <a:avLst/>
          </a:prstGeom>
          <a:noFill/>
        </p:spPr>
        <p:txBody>
          <a:bodyPr wrap="square">
            <a:spAutoFit/>
          </a:bodyPr>
          <a:lstStyle/>
          <a:p>
            <a:pPr algn="l">
              <a:defRPr sz="1300" b="1" i="0">
                <a:solidFill>
                  <a:srgbClr val="FFFFFF"/>
                </a:solidFill>
                <a:latin typeface="Calibri"/>
              </a:defRPr>
            </a:pPr>
            <a:r>
              <a:t>Journey System</a:t>
            </a:r>
          </a:p>
        </p:txBody>
      </p:sp>
      <p:sp>
        <p:nvSpPr>
          <p:cNvPr id="7" name="TextBox 6"/>
          <p:cNvSpPr txBox="1"/>
          <p:nvPr/>
        </p:nvSpPr>
        <p:spPr>
          <a:xfrm>
            <a:off x="4389120" y="2148840"/>
            <a:ext cx="3200400" cy="731520"/>
          </a:xfrm>
          <a:prstGeom prst="rect">
            <a:avLst/>
          </a:prstGeom>
          <a:noFill/>
        </p:spPr>
        <p:txBody>
          <a:bodyPr wrap="square">
            <a:spAutoFit/>
          </a:bodyPr>
          <a:lstStyle/>
          <a:p>
            <a:pPr algn="l">
              <a:lnSpc>
                <a:spcPts val="1700"/>
              </a:lnSpc>
              <a:defRPr sz="1100" b="0" i="0">
                <a:solidFill>
                  <a:srgbClr val="666666"/>
                </a:solidFill>
                <a:latin typeface="Calibri"/>
              </a:defRPr>
            </a:pPr>
            <a:r>
              <a:t>240+ journeys across 16 realms. Six-phase emotional arcs with multi-layer shader compositing and palette theming.</a:t>
            </a:r>
          </a:p>
        </p:txBody>
      </p:sp>
      <p:sp>
        <p:nvSpPr>
          <p:cNvPr id="8" name="TextBox 7"/>
          <p:cNvSpPr txBox="1"/>
          <p:nvPr/>
        </p:nvSpPr>
        <p:spPr>
          <a:xfrm>
            <a:off x="7955280" y="1828800"/>
            <a:ext cx="3200400" cy="228600"/>
          </a:xfrm>
          <a:prstGeom prst="rect">
            <a:avLst/>
          </a:prstGeom>
          <a:noFill/>
        </p:spPr>
        <p:txBody>
          <a:bodyPr wrap="square">
            <a:spAutoFit/>
          </a:bodyPr>
          <a:lstStyle/>
          <a:p>
            <a:pPr algn="l">
              <a:defRPr sz="1300" b="1" i="0">
                <a:solidFill>
                  <a:srgbClr val="FFFFFF"/>
                </a:solidFill>
                <a:latin typeface="Calibri"/>
              </a:defRPr>
            </a:pPr>
            <a:r>
              <a:t>AI Poetry &amp; Voice</a:t>
            </a:r>
          </a:p>
        </p:txBody>
      </p:sp>
      <p:sp>
        <p:nvSpPr>
          <p:cNvPr id="9" name="TextBox 8"/>
          <p:cNvSpPr txBox="1"/>
          <p:nvPr/>
        </p:nvSpPr>
        <p:spPr>
          <a:xfrm>
            <a:off x="7955280" y="2148840"/>
            <a:ext cx="3200400" cy="731520"/>
          </a:xfrm>
          <a:prstGeom prst="rect">
            <a:avLst/>
          </a:prstGeom>
          <a:noFill/>
        </p:spPr>
        <p:txBody>
          <a:bodyPr wrap="square">
            <a:spAutoFit/>
          </a:bodyPr>
          <a:lstStyle/>
          <a:p>
            <a:pPr algn="l">
              <a:lnSpc>
                <a:spcPts val="1700"/>
              </a:lnSpc>
              <a:defRPr sz="1100" b="0" i="0">
                <a:solidFill>
                  <a:srgbClr val="666666"/>
                </a:solidFill>
                <a:latin typeface="Calibri"/>
              </a:defRPr>
            </a:pPr>
            <a:r>
              <a:t>Real-time poetic overlays synced to mood and phase. Whisper narration in 12 languages. 35 creative angles that rotate to stay fresh.</a:t>
            </a:r>
          </a:p>
        </p:txBody>
      </p:sp>
      <p:sp>
        <p:nvSpPr>
          <p:cNvPr id="10" name="TextBox 9"/>
          <p:cNvSpPr txBox="1"/>
          <p:nvPr/>
        </p:nvSpPr>
        <p:spPr>
          <a:xfrm>
            <a:off x="822960" y="3108960"/>
            <a:ext cx="3200400" cy="228600"/>
          </a:xfrm>
          <a:prstGeom prst="rect">
            <a:avLst/>
          </a:prstGeom>
          <a:noFill/>
        </p:spPr>
        <p:txBody>
          <a:bodyPr wrap="square">
            <a:spAutoFit/>
          </a:bodyPr>
          <a:lstStyle/>
          <a:p>
            <a:pPr algn="l">
              <a:defRPr sz="1300" b="1" i="0">
                <a:solidFill>
                  <a:srgbClr val="FFFFFF"/>
                </a:solidFill>
                <a:latin typeface="Calibri"/>
              </a:defRPr>
            </a:pPr>
            <a:r>
              <a:t>Story Mode</a:t>
            </a:r>
          </a:p>
        </p:txBody>
      </p:sp>
      <p:sp>
        <p:nvSpPr>
          <p:cNvPr id="11" name="TextBox 10"/>
          <p:cNvSpPr txBox="1"/>
          <p:nvPr/>
        </p:nvSpPr>
        <p:spPr>
          <a:xfrm>
            <a:off x="822960" y="3429000"/>
            <a:ext cx="3200400" cy="731520"/>
          </a:xfrm>
          <a:prstGeom prst="rect">
            <a:avLst/>
          </a:prstGeom>
          <a:noFill/>
        </p:spPr>
        <p:txBody>
          <a:bodyPr wrap="square">
            <a:spAutoFit/>
          </a:bodyPr>
          <a:lstStyle/>
          <a:p>
            <a:pPr algn="l">
              <a:lnSpc>
                <a:spcPts val="1700"/>
              </a:lnSpc>
              <a:defRPr sz="1100" b="0" i="0">
                <a:solidFill>
                  <a:srgbClr val="666666"/>
                </a:solidFill>
                <a:latin typeface="Calibri"/>
              </a:defRPr>
            </a:pPr>
            <a:r>
              <a:t>Six-phase narrative arcs generated from your music's harmonic character. AI-written paragraphs unfold across the journey.</a:t>
            </a:r>
          </a:p>
        </p:txBody>
      </p:sp>
      <p:sp>
        <p:nvSpPr>
          <p:cNvPr id="12" name="TextBox 11"/>
          <p:cNvSpPr txBox="1"/>
          <p:nvPr/>
        </p:nvSpPr>
        <p:spPr>
          <a:xfrm>
            <a:off x="4389120" y="3108960"/>
            <a:ext cx="3200400" cy="228600"/>
          </a:xfrm>
          <a:prstGeom prst="rect">
            <a:avLst/>
          </a:prstGeom>
          <a:noFill/>
        </p:spPr>
        <p:txBody>
          <a:bodyPr wrap="square">
            <a:spAutoFit/>
          </a:bodyPr>
          <a:lstStyle/>
          <a:p>
            <a:pPr algn="l">
              <a:defRPr sz="1300" b="1" i="0">
                <a:solidFill>
                  <a:srgbClr val="FFFFFF"/>
                </a:solidFill>
                <a:latin typeface="Calibri"/>
              </a:defRPr>
            </a:pPr>
            <a:r>
              <a:t>Custom Journeys</a:t>
            </a:r>
          </a:p>
        </p:txBody>
      </p:sp>
      <p:sp>
        <p:nvSpPr>
          <p:cNvPr id="13" name="TextBox 12"/>
          <p:cNvSpPr txBox="1"/>
          <p:nvPr/>
        </p:nvSpPr>
        <p:spPr>
          <a:xfrm>
            <a:off x="4389120" y="3429000"/>
            <a:ext cx="3200400" cy="731520"/>
          </a:xfrm>
          <a:prstGeom prst="rect">
            <a:avLst/>
          </a:prstGeom>
          <a:noFill/>
        </p:spPr>
        <p:txBody>
          <a:bodyPr wrap="square">
            <a:spAutoFit/>
          </a:bodyPr>
          <a:lstStyle/>
          <a:p>
            <a:pPr algn="l">
              <a:lnSpc>
                <a:spcPts val="1700"/>
              </a:lnSpc>
              <a:defRPr sz="1100" b="0" i="0">
                <a:solidFill>
                  <a:srgbClr val="666666"/>
                </a:solidFill>
                <a:latin typeface="Calibri"/>
              </a:defRPr>
            </a:pPr>
            <a:r>
              <a:t>Create from a story prompt or auto-generate from audio analysis. AI maps your music's mood to a realm and composes the visual arc.</a:t>
            </a:r>
          </a:p>
        </p:txBody>
      </p:sp>
      <p:sp>
        <p:nvSpPr>
          <p:cNvPr id="14" name="TextBox 13"/>
          <p:cNvSpPr txBox="1"/>
          <p:nvPr/>
        </p:nvSpPr>
        <p:spPr>
          <a:xfrm>
            <a:off x="7955280" y="3108960"/>
            <a:ext cx="3200400" cy="228600"/>
          </a:xfrm>
          <a:prstGeom prst="rect">
            <a:avLst/>
          </a:prstGeom>
          <a:noFill/>
        </p:spPr>
        <p:txBody>
          <a:bodyPr wrap="square">
            <a:spAutoFit/>
          </a:bodyPr>
          <a:lstStyle/>
          <a:p>
            <a:pPr algn="l">
              <a:defRPr sz="1300" b="1" i="0">
                <a:solidFill>
                  <a:srgbClr val="FFFFFF"/>
                </a:solidFill>
                <a:latin typeface="Calibri"/>
              </a:defRPr>
            </a:pPr>
            <a:r>
              <a:t>Shareable Rooms</a:t>
            </a:r>
          </a:p>
        </p:txBody>
      </p:sp>
      <p:sp>
        <p:nvSpPr>
          <p:cNvPr id="15" name="TextBox 14"/>
          <p:cNvSpPr txBox="1"/>
          <p:nvPr/>
        </p:nvSpPr>
        <p:spPr>
          <a:xfrm>
            <a:off x="7955280" y="3429000"/>
            <a:ext cx="3200400" cy="731520"/>
          </a:xfrm>
          <a:prstGeom prst="rect">
            <a:avLst/>
          </a:prstGeom>
          <a:noFill/>
        </p:spPr>
        <p:txBody>
          <a:bodyPr wrap="square">
            <a:spAutoFit/>
          </a:bodyPr>
          <a:lstStyle/>
          <a:p>
            <a:pPr algn="l">
              <a:lnSpc>
                <a:spcPts val="1700"/>
              </a:lnSpc>
              <a:defRPr sz="1100" b="0" i="0">
                <a:solidFill>
                  <a:srgbClr val="666666"/>
                </a:solidFill>
                <a:latin typeface="Calibri"/>
              </a:defRPr>
            </a:pPr>
            <a:r>
              <a:t>Public links to any journey. Anyone can experience your music — shaders, poetry, narrative — without logging in.</a:t>
            </a:r>
          </a:p>
        </p:txBody>
      </p:sp>
      <p:sp>
        <p:nvSpPr>
          <p:cNvPr id="16" name="TextBox 15"/>
          <p:cNvSpPr txBox="1"/>
          <p:nvPr/>
        </p:nvSpPr>
        <p:spPr>
          <a:xfrm>
            <a:off x="822960" y="5349240"/>
            <a:ext cx="2743200" cy="182880"/>
          </a:xfrm>
          <a:prstGeom prst="rect">
            <a:avLst/>
          </a:prstGeom>
          <a:noFill/>
        </p:spPr>
        <p:txBody>
          <a:bodyPr wrap="square">
            <a:spAutoFit/>
          </a:bodyPr>
          <a:lstStyle/>
          <a:p>
            <a:pPr algn="l">
              <a:defRPr sz="800" b="0" i="0">
                <a:solidFill>
                  <a:srgbClr val="404040"/>
                </a:solidFill>
                <a:latin typeface="Consolas"/>
              </a:defRPr>
            </a:pPr>
            <a:r>
              <a:t>JOURNEY PHASES</a:t>
            </a:r>
          </a:p>
        </p:txBody>
      </p:sp>
      <p:sp>
        <p:nvSpPr>
          <p:cNvPr id="17" name="Rectangle 16"/>
          <p:cNvSpPr/>
          <p:nvPr/>
        </p:nvSpPr>
        <p:spPr>
          <a:xfrm>
            <a:off x="822960" y="5669280"/>
            <a:ext cx="1645920" cy="18288"/>
          </a:xfrm>
          <a:prstGeom prst="rect">
            <a:avLst/>
          </a:prstGeom>
          <a:solidFill>
            <a:srgbClr val="735E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760720"/>
            <a:ext cx="1645920" cy="182880"/>
          </a:xfrm>
          <a:prstGeom prst="rect">
            <a:avLst/>
          </a:prstGeom>
          <a:noFill/>
        </p:spPr>
        <p:txBody>
          <a:bodyPr wrap="square">
            <a:spAutoFit/>
          </a:bodyPr>
          <a:lstStyle/>
          <a:p>
            <a:pPr algn="ctr">
              <a:defRPr sz="800" b="0" i="0">
                <a:solidFill>
                  <a:srgbClr val="735EDE"/>
                </a:solidFill>
                <a:latin typeface="Consolas"/>
              </a:defRPr>
            </a:pPr>
            <a:r>
              <a:t>Threshold</a:t>
            </a:r>
          </a:p>
        </p:txBody>
      </p:sp>
      <p:sp>
        <p:nvSpPr>
          <p:cNvPr id="19" name="Rectangle 18"/>
          <p:cNvSpPr/>
          <p:nvPr/>
        </p:nvSpPr>
        <p:spPr>
          <a:xfrm>
            <a:off x="2606040" y="5669280"/>
            <a:ext cx="1645920" cy="18288"/>
          </a:xfrm>
          <a:prstGeom prst="rect">
            <a:avLst/>
          </a:prstGeom>
          <a:solidFill>
            <a:srgbClr val="8D6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06040" y="5760720"/>
            <a:ext cx="1645920" cy="182880"/>
          </a:xfrm>
          <a:prstGeom prst="rect">
            <a:avLst/>
          </a:prstGeom>
          <a:noFill/>
        </p:spPr>
        <p:txBody>
          <a:bodyPr wrap="square">
            <a:spAutoFit/>
          </a:bodyPr>
          <a:lstStyle/>
          <a:p>
            <a:pPr algn="ctr">
              <a:defRPr sz="800" b="0" i="0">
                <a:solidFill>
                  <a:srgbClr val="8D6BE8"/>
                </a:solidFill>
                <a:latin typeface="Consolas"/>
              </a:defRPr>
            </a:pPr>
            <a:r>
              <a:t>Expansion</a:t>
            </a:r>
          </a:p>
        </p:txBody>
      </p:sp>
      <p:sp>
        <p:nvSpPr>
          <p:cNvPr id="21" name="Rectangle 20"/>
          <p:cNvSpPr/>
          <p:nvPr/>
        </p:nvSpPr>
        <p:spPr>
          <a:xfrm>
            <a:off x="4389120" y="5669280"/>
            <a:ext cx="1645920" cy="18288"/>
          </a:xfrm>
          <a:prstGeom prst="rect">
            <a:avLst/>
          </a:prstGeom>
          <a:solidFill>
            <a:srgbClr val="A77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5760720"/>
            <a:ext cx="1645920" cy="182880"/>
          </a:xfrm>
          <a:prstGeom prst="rect">
            <a:avLst/>
          </a:prstGeom>
          <a:noFill/>
        </p:spPr>
        <p:txBody>
          <a:bodyPr wrap="square">
            <a:spAutoFit/>
          </a:bodyPr>
          <a:lstStyle/>
          <a:p>
            <a:pPr algn="ctr">
              <a:defRPr sz="800" b="0" i="0">
                <a:solidFill>
                  <a:srgbClr val="A778F2"/>
                </a:solidFill>
                <a:latin typeface="Consolas"/>
              </a:defRPr>
            </a:pPr>
            <a:r>
              <a:t>Transcendence</a:t>
            </a:r>
          </a:p>
        </p:txBody>
      </p:sp>
      <p:sp>
        <p:nvSpPr>
          <p:cNvPr id="23" name="Rectangle 22"/>
          <p:cNvSpPr/>
          <p:nvPr/>
        </p:nvSpPr>
        <p:spPr>
          <a:xfrm>
            <a:off x="6172200" y="5669280"/>
            <a:ext cx="1645920" cy="182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72200" y="5760720"/>
            <a:ext cx="1645920" cy="182880"/>
          </a:xfrm>
          <a:prstGeom prst="rect">
            <a:avLst/>
          </a:prstGeom>
          <a:noFill/>
        </p:spPr>
        <p:txBody>
          <a:bodyPr wrap="square">
            <a:spAutoFit/>
          </a:bodyPr>
          <a:lstStyle/>
          <a:p>
            <a:pPr algn="ctr">
              <a:defRPr sz="800" b="0" i="0">
                <a:solidFill>
                  <a:srgbClr val="7C3AED"/>
                </a:solidFill>
                <a:latin typeface="Consolas"/>
              </a:defRPr>
            </a:pPr>
            <a:r>
              <a:t>Illumination</a:t>
            </a:r>
          </a:p>
        </p:txBody>
      </p:sp>
      <p:sp>
        <p:nvSpPr>
          <p:cNvPr id="25" name="Rectangle 24"/>
          <p:cNvSpPr/>
          <p:nvPr/>
        </p:nvSpPr>
        <p:spPr>
          <a:xfrm>
            <a:off x="7955280" y="5669280"/>
            <a:ext cx="1645920" cy="18288"/>
          </a:xfrm>
          <a:prstGeom prst="rect">
            <a:avLst/>
          </a:prstGeom>
          <a:solidFill>
            <a:srgbClr val="8D6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80" y="5760720"/>
            <a:ext cx="1645920" cy="182880"/>
          </a:xfrm>
          <a:prstGeom prst="rect">
            <a:avLst/>
          </a:prstGeom>
          <a:noFill/>
        </p:spPr>
        <p:txBody>
          <a:bodyPr wrap="square">
            <a:spAutoFit/>
          </a:bodyPr>
          <a:lstStyle/>
          <a:p>
            <a:pPr algn="ctr">
              <a:defRPr sz="800" b="0" i="0">
                <a:solidFill>
                  <a:srgbClr val="8D6BE8"/>
                </a:solidFill>
                <a:latin typeface="Consolas"/>
              </a:defRPr>
            </a:pPr>
            <a:r>
              <a:t>Return</a:t>
            </a:r>
          </a:p>
        </p:txBody>
      </p:sp>
      <p:sp>
        <p:nvSpPr>
          <p:cNvPr id="27" name="Rectangle 26"/>
          <p:cNvSpPr/>
          <p:nvPr/>
        </p:nvSpPr>
        <p:spPr>
          <a:xfrm>
            <a:off x="9738360" y="5669280"/>
            <a:ext cx="1645920" cy="18288"/>
          </a:xfrm>
          <a:prstGeom prst="rect">
            <a:avLst/>
          </a:prstGeom>
          <a:solidFill>
            <a:srgbClr val="735E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38360" y="5760720"/>
            <a:ext cx="1645920" cy="182880"/>
          </a:xfrm>
          <a:prstGeom prst="rect">
            <a:avLst/>
          </a:prstGeom>
          <a:noFill/>
        </p:spPr>
        <p:txBody>
          <a:bodyPr wrap="square">
            <a:spAutoFit/>
          </a:bodyPr>
          <a:lstStyle/>
          <a:p>
            <a:pPr algn="ctr">
              <a:defRPr sz="800" b="0" i="0">
                <a:solidFill>
                  <a:srgbClr val="735EDE"/>
                </a:solidFill>
                <a:latin typeface="Consolas"/>
              </a:defRPr>
            </a:pPr>
            <a:r>
              <a:t>Integration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612648"/>
            <a:ext cx="2743200" cy="228600"/>
          </a:xfrm>
          <a:prstGeom prst="rect">
            <a:avLst/>
          </a:prstGeom>
          <a:noFill/>
        </p:spPr>
        <p:txBody>
          <a:bodyPr wrap="square">
            <a:spAutoFit/>
          </a:bodyPr>
          <a:lstStyle/>
          <a:p>
            <a:pPr algn="l">
              <a:defRPr sz="900" b="0" i="0">
                <a:solidFill>
                  <a:srgbClr val="7C3AED"/>
                </a:solidFill>
                <a:latin typeface="Consolas"/>
              </a:defRPr>
            </a:pPr>
            <a:r>
              <a:t>SHARING</a:t>
            </a:r>
          </a:p>
        </p:txBody>
      </p:sp>
      <p:sp>
        <p:nvSpPr>
          <p:cNvPr id="3" name="TextBox 2"/>
          <p:cNvSpPr txBox="1"/>
          <p:nvPr/>
        </p:nvSpPr>
        <p:spPr>
          <a:xfrm>
            <a:off x="822960" y="868680"/>
            <a:ext cx="9144000" cy="914400"/>
          </a:xfrm>
          <a:prstGeom prst="rect">
            <a:avLst/>
          </a:prstGeom>
          <a:noFill/>
        </p:spPr>
        <p:txBody>
          <a:bodyPr wrap="square">
            <a:spAutoFit/>
          </a:bodyPr>
          <a:lstStyle/>
          <a:p>
            <a:pPr algn="l">
              <a:lnSpc>
                <a:spcPts val="5600"/>
              </a:lnSpc>
              <a:defRPr sz="4800" b="1" i="0">
                <a:solidFill>
                  <a:srgbClr val="FFFFFF"/>
                </a:solidFill>
                <a:latin typeface="Calibri"/>
              </a:defRPr>
            </a:pPr>
            <a:r>
              <a:t>Music was never meant</a:t>
            </a:r>
            <a:br/>
            <a:r>
              <a:t>to be a file.</a:t>
            </a:r>
          </a:p>
        </p:txBody>
      </p:sp>
      <p:sp>
        <p:nvSpPr>
          <p:cNvPr id="4" name="TextBox 3"/>
          <p:cNvSpPr txBox="1"/>
          <p:nvPr/>
        </p:nvSpPr>
        <p:spPr>
          <a:xfrm>
            <a:off x="822960" y="2194560"/>
            <a:ext cx="6400800" cy="731520"/>
          </a:xfrm>
          <a:prstGeom prst="rect">
            <a:avLst/>
          </a:prstGeom>
          <a:noFill/>
        </p:spPr>
        <p:txBody>
          <a:bodyPr wrap="square">
            <a:spAutoFit/>
          </a:bodyPr>
          <a:lstStyle/>
          <a:p>
            <a:pPr algn="l">
              <a:lnSpc>
                <a:spcPts val="2200"/>
              </a:lnSpc>
              <a:defRPr sz="1400" b="0" i="0">
                <a:solidFill>
                  <a:srgbClr val="737373"/>
                </a:solidFill>
                <a:latin typeface="Calibri"/>
              </a:defRPr>
            </a:pPr>
            <a:r>
              <a:t>When you share a recording today, someone gets an audio file. They press play in a browser tab. That's it. Resonance turns sharing into an invitation — step inside this music and experience what I experienced.</a:t>
            </a:r>
          </a:p>
        </p:txBody>
      </p:sp>
      <p:sp>
        <p:nvSpPr>
          <p:cNvPr id="5" name="Rectangle 4"/>
          <p:cNvSpPr/>
          <p:nvPr/>
        </p:nvSpPr>
        <p:spPr>
          <a:xfrm>
            <a:off x="822960" y="3474720"/>
            <a:ext cx="10515600" cy="9144"/>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017520"/>
            <a:ext cx="731520" cy="228600"/>
          </a:xfrm>
          <a:prstGeom prst="rect">
            <a:avLst/>
          </a:prstGeom>
          <a:noFill/>
        </p:spPr>
        <p:txBody>
          <a:bodyPr wrap="square">
            <a:spAutoFit/>
          </a:bodyPr>
          <a:lstStyle/>
          <a:p>
            <a:pPr algn="l">
              <a:defRPr sz="800" b="0" i="0">
                <a:solidFill>
                  <a:srgbClr val="735EDE"/>
                </a:solidFill>
                <a:latin typeface="Consolas"/>
              </a:defRPr>
            </a:pPr>
            <a:r>
              <a:t>LAYER 1</a:t>
            </a:r>
          </a:p>
        </p:txBody>
      </p:sp>
      <p:sp>
        <p:nvSpPr>
          <p:cNvPr id="7" name="TextBox 6"/>
          <p:cNvSpPr txBox="1"/>
          <p:nvPr/>
        </p:nvSpPr>
        <p:spPr>
          <a:xfrm>
            <a:off x="1920240" y="3017520"/>
            <a:ext cx="1371600" cy="228600"/>
          </a:xfrm>
          <a:prstGeom prst="rect">
            <a:avLst/>
          </a:prstGeom>
          <a:noFill/>
        </p:spPr>
        <p:txBody>
          <a:bodyPr wrap="square">
            <a:spAutoFit/>
          </a:bodyPr>
          <a:lstStyle/>
          <a:p>
            <a:pPr algn="l">
              <a:defRPr sz="1300" b="1" i="0">
                <a:solidFill>
                  <a:srgbClr val="FFFFFF"/>
                </a:solidFill>
                <a:latin typeface="Calibri"/>
              </a:defRPr>
            </a:pPr>
            <a:r>
              <a:t>Your Music</a:t>
            </a:r>
          </a:p>
        </p:txBody>
      </p:sp>
      <p:sp>
        <p:nvSpPr>
          <p:cNvPr id="8" name="TextBox 7"/>
          <p:cNvSpPr txBox="1"/>
          <p:nvPr/>
        </p:nvSpPr>
        <p:spPr>
          <a:xfrm>
            <a:off x="3566160" y="3017520"/>
            <a:ext cx="7772400" cy="457200"/>
          </a:xfrm>
          <a:prstGeom prst="rect">
            <a:avLst/>
          </a:prstGeom>
          <a:noFill/>
        </p:spPr>
        <p:txBody>
          <a:bodyPr wrap="square">
            <a:spAutoFit/>
          </a:bodyPr>
          <a:lstStyle/>
          <a:p>
            <a:pPr algn="l">
              <a:lnSpc>
                <a:spcPts val="1700"/>
              </a:lnSpc>
              <a:defRPr sz="1100" b="0" i="0">
                <a:solidFill>
                  <a:srgbClr val="666666"/>
                </a:solidFill>
                <a:latin typeface="Calibri"/>
              </a:defRPr>
            </a:pPr>
            <a:r>
              <a:t>The recording itself — streamed in full quality through The Room's global audio engine.</a:t>
            </a:r>
          </a:p>
        </p:txBody>
      </p:sp>
      <p:sp>
        <p:nvSpPr>
          <p:cNvPr id="9" name="Rectangle 8"/>
          <p:cNvSpPr/>
          <p:nvPr/>
        </p:nvSpPr>
        <p:spPr>
          <a:xfrm>
            <a:off x="822960" y="4005072"/>
            <a:ext cx="10515600" cy="9144"/>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47872"/>
            <a:ext cx="731520" cy="228600"/>
          </a:xfrm>
          <a:prstGeom prst="rect">
            <a:avLst/>
          </a:prstGeom>
          <a:noFill/>
        </p:spPr>
        <p:txBody>
          <a:bodyPr wrap="square">
            <a:spAutoFit/>
          </a:bodyPr>
          <a:lstStyle/>
          <a:p>
            <a:pPr algn="l">
              <a:defRPr sz="800" b="0" i="0">
                <a:solidFill>
                  <a:srgbClr val="8D6BE8"/>
                </a:solidFill>
                <a:latin typeface="Consolas"/>
              </a:defRPr>
            </a:pPr>
            <a:r>
              <a:t>LAYER 2</a:t>
            </a:r>
          </a:p>
        </p:txBody>
      </p:sp>
      <p:sp>
        <p:nvSpPr>
          <p:cNvPr id="11" name="TextBox 10"/>
          <p:cNvSpPr txBox="1"/>
          <p:nvPr/>
        </p:nvSpPr>
        <p:spPr>
          <a:xfrm>
            <a:off x="1920240" y="3547872"/>
            <a:ext cx="1371600" cy="228600"/>
          </a:xfrm>
          <a:prstGeom prst="rect">
            <a:avLst/>
          </a:prstGeom>
          <a:noFill/>
        </p:spPr>
        <p:txBody>
          <a:bodyPr wrap="square">
            <a:spAutoFit/>
          </a:bodyPr>
          <a:lstStyle/>
          <a:p>
            <a:pPr algn="l">
              <a:defRPr sz="1300" b="1" i="0">
                <a:solidFill>
                  <a:srgbClr val="FFFFFF"/>
                </a:solidFill>
                <a:latin typeface="Calibri"/>
              </a:defRPr>
            </a:pPr>
            <a:r>
              <a:t>Shader Visuals</a:t>
            </a:r>
          </a:p>
        </p:txBody>
      </p:sp>
      <p:sp>
        <p:nvSpPr>
          <p:cNvPr id="12" name="TextBox 11"/>
          <p:cNvSpPr txBox="1"/>
          <p:nvPr/>
        </p:nvSpPr>
        <p:spPr>
          <a:xfrm>
            <a:off x="3566160" y="3547872"/>
            <a:ext cx="7772400" cy="457200"/>
          </a:xfrm>
          <a:prstGeom prst="rect">
            <a:avLst/>
          </a:prstGeom>
          <a:noFill/>
        </p:spPr>
        <p:txBody>
          <a:bodyPr wrap="square">
            <a:spAutoFit/>
          </a:bodyPr>
          <a:lstStyle/>
          <a:p>
            <a:pPr algn="l">
              <a:lnSpc>
                <a:spcPts val="1700"/>
              </a:lnSpc>
              <a:defRPr sz="1100" b="0" i="0">
                <a:solidFill>
                  <a:srgbClr val="666666"/>
                </a:solidFill>
                <a:latin typeface="Calibri"/>
              </a:defRPr>
            </a:pPr>
            <a:r>
              <a:t>Multi-layer WebGL shaders composited in real time — rotating through curated palettes across six journey phases.</a:t>
            </a:r>
          </a:p>
        </p:txBody>
      </p:sp>
      <p:sp>
        <p:nvSpPr>
          <p:cNvPr id="13" name="Rectangle 12"/>
          <p:cNvSpPr/>
          <p:nvPr/>
        </p:nvSpPr>
        <p:spPr>
          <a:xfrm>
            <a:off x="822960" y="4535424"/>
            <a:ext cx="10515600" cy="9144"/>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078224"/>
            <a:ext cx="731520" cy="228600"/>
          </a:xfrm>
          <a:prstGeom prst="rect">
            <a:avLst/>
          </a:prstGeom>
          <a:noFill/>
        </p:spPr>
        <p:txBody>
          <a:bodyPr wrap="square">
            <a:spAutoFit/>
          </a:bodyPr>
          <a:lstStyle/>
          <a:p>
            <a:pPr algn="l">
              <a:defRPr sz="800" b="0" i="0">
                <a:solidFill>
                  <a:srgbClr val="A778F2"/>
                </a:solidFill>
                <a:latin typeface="Consolas"/>
              </a:defRPr>
            </a:pPr>
            <a:r>
              <a:t>LAYER 3</a:t>
            </a:r>
          </a:p>
        </p:txBody>
      </p:sp>
      <p:sp>
        <p:nvSpPr>
          <p:cNvPr id="15" name="TextBox 14"/>
          <p:cNvSpPr txBox="1"/>
          <p:nvPr/>
        </p:nvSpPr>
        <p:spPr>
          <a:xfrm>
            <a:off x="1920240" y="4078224"/>
            <a:ext cx="1371600" cy="228600"/>
          </a:xfrm>
          <a:prstGeom prst="rect">
            <a:avLst/>
          </a:prstGeom>
          <a:noFill/>
        </p:spPr>
        <p:txBody>
          <a:bodyPr wrap="square">
            <a:spAutoFit/>
          </a:bodyPr>
          <a:lstStyle/>
          <a:p>
            <a:pPr algn="l">
              <a:defRPr sz="1300" b="1" i="0">
                <a:solidFill>
                  <a:srgbClr val="FFFFFF"/>
                </a:solidFill>
                <a:latin typeface="Calibri"/>
              </a:defRPr>
            </a:pPr>
            <a:r>
              <a:t>AI Poetry</a:t>
            </a:r>
          </a:p>
        </p:txBody>
      </p:sp>
      <p:sp>
        <p:nvSpPr>
          <p:cNvPr id="16" name="TextBox 15"/>
          <p:cNvSpPr txBox="1"/>
          <p:nvPr/>
        </p:nvSpPr>
        <p:spPr>
          <a:xfrm>
            <a:off x="3566160" y="4078224"/>
            <a:ext cx="7772400" cy="457200"/>
          </a:xfrm>
          <a:prstGeom prst="rect">
            <a:avLst/>
          </a:prstGeom>
          <a:noFill/>
        </p:spPr>
        <p:txBody>
          <a:bodyPr wrap="square">
            <a:spAutoFit/>
          </a:bodyPr>
          <a:lstStyle/>
          <a:p>
            <a:pPr algn="l">
              <a:lnSpc>
                <a:spcPts val="1700"/>
              </a:lnSpc>
              <a:defRPr sz="1100" b="0" i="0">
                <a:solidFill>
                  <a:srgbClr val="666666"/>
                </a:solidFill>
                <a:latin typeface="Calibri"/>
              </a:defRPr>
            </a:pPr>
            <a:r>
              <a:t>Poetic text overlays generated from the music's mood. Whispered narration in 12 languages. Fades in and out with the phases.</a:t>
            </a:r>
          </a:p>
        </p:txBody>
      </p:sp>
      <p:sp>
        <p:nvSpPr>
          <p:cNvPr id="17" name="Rectangle 16"/>
          <p:cNvSpPr/>
          <p:nvPr/>
        </p:nvSpPr>
        <p:spPr>
          <a:xfrm>
            <a:off x="822960" y="5065775"/>
            <a:ext cx="10515600" cy="9144"/>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608575"/>
            <a:ext cx="731520" cy="228600"/>
          </a:xfrm>
          <a:prstGeom prst="rect">
            <a:avLst/>
          </a:prstGeom>
          <a:noFill/>
        </p:spPr>
        <p:txBody>
          <a:bodyPr wrap="square">
            <a:spAutoFit/>
          </a:bodyPr>
          <a:lstStyle/>
          <a:p>
            <a:pPr algn="l">
              <a:defRPr sz="800" b="0" i="0">
                <a:solidFill>
                  <a:srgbClr val="7C3AED"/>
                </a:solidFill>
                <a:latin typeface="Consolas"/>
              </a:defRPr>
            </a:pPr>
            <a:r>
              <a:t>LAYER 4</a:t>
            </a:r>
          </a:p>
        </p:txBody>
      </p:sp>
      <p:sp>
        <p:nvSpPr>
          <p:cNvPr id="19" name="TextBox 18"/>
          <p:cNvSpPr txBox="1"/>
          <p:nvPr/>
        </p:nvSpPr>
        <p:spPr>
          <a:xfrm>
            <a:off x="1920240" y="4608575"/>
            <a:ext cx="1371600" cy="228600"/>
          </a:xfrm>
          <a:prstGeom prst="rect">
            <a:avLst/>
          </a:prstGeom>
          <a:noFill/>
        </p:spPr>
        <p:txBody>
          <a:bodyPr wrap="square">
            <a:spAutoFit/>
          </a:bodyPr>
          <a:lstStyle/>
          <a:p>
            <a:pPr algn="l">
              <a:defRPr sz="1300" b="1" i="0">
                <a:solidFill>
                  <a:srgbClr val="FFFFFF"/>
                </a:solidFill>
                <a:latin typeface="Calibri"/>
              </a:defRPr>
            </a:pPr>
            <a:r>
              <a:t>AI Imagery</a:t>
            </a:r>
          </a:p>
        </p:txBody>
      </p:sp>
      <p:sp>
        <p:nvSpPr>
          <p:cNvPr id="20" name="TextBox 19"/>
          <p:cNvSpPr txBox="1"/>
          <p:nvPr/>
        </p:nvSpPr>
        <p:spPr>
          <a:xfrm>
            <a:off x="3566160" y="4608575"/>
            <a:ext cx="7772400" cy="457200"/>
          </a:xfrm>
          <a:prstGeom prst="rect">
            <a:avLst/>
          </a:prstGeom>
          <a:noFill/>
        </p:spPr>
        <p:txBody>
          <a:bodyPr wrap="square">
            <a:spAutoFit/>
          </a:bodyPr>
          <a:lstStyle/>
          <a:p>
            <a:pPr algn="l">
              <a:lnSpc>
                <a:spcPts val="1700"/>
              </a:lnSpc>
              <a:defRPr sz="1100" b="0" i="0">
                <a:solidFill>
                  <a:srgbClr val="666666"/>
                </a:solidFill>
                <a:latin typeface="Calibri"/>
              </a:defRPr>
            </a:pPr>
            <a:r>
              <a:t>Real-time generated images from the journey's visual vocabulary — landscapes, textures, abstract forms that emerge from your harmonic DNA.</a:t>
            </a:r>
          </a:p>
        </p:txBody>
      </p:sp>
      <p:sp>
        <p:nvSpPr>
          <p:cNvPr id="21" name="Rectangle 20"/>
          <p:cNvSpPr/>
          <p:nvPr/>
        </p:nvSpPr>
        <p:spPr>
          <a:xfrm>
            <a:off x="822960" y="5596128"/>
            <a:ext cx="10515600" cy="9144"/>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138928"/>
            <a:ext cx="731520" cy="228600"/>
          </a:xfrm>
          <a:prstGeom prst="rect">
            <a:avLst/>
          </a:prstGeom>
          <a:noFill/>
        </p:spPr>
        <p:txBody>
          <a:bodyPr wrap="square">
            <a:spAutoFit/>
          </a:bodyPr>
          <a:lstStyle/>
          <a:p>
            <a:pPr algn="l">
              <a:defRPr sz="800" b="0" i="0">
                <a:solidFill>
                  <a:srgbClr val="7C3AED"/>
                </a:solidFill>
                <a:latin typeface="Consolas"/>
              </a:defRPr>
            </a:pPr>
            <a:r>
              <a:t>LAYER 5</a:t>
            </a:r>
          </a:p>
        </p:txBody>
      </p:sp>
      <p:sp>
        <p:nvSpPr>
          <p:cNvPr id="23" name="TextBox 22"/>
          <p:cNvSpPr txBox="1"/>
          <p:nvPr/>
        </p:nvSpPr>
        <p:spPr>
          <a:xfrm>
            <a:off x="1920240" y="5138928"/>
            <a:ext cx="1371600" cy="228600"/>
          </a:xfrm>
          <a:prstGeom prst="rect">
            <a:avLst/>
          </a:prstGeom>
          <a:noFill/>
        </p:spPr>
        <p:txBody>
          <a:bodyPr wrap="square">
            <a:spAutoFit/>
          </a:bodyPr>
          <a:lstStyle/>
          <a:p>
            <a:pPr algn="l">
              <a:defRPr sz="1300" b="1" i="0">
                <a:solidFill>
                  <a:srgbClr val="FFFFFF"/>
                </a:solidFill>
                <a:latin typeface="Calibri"/>
              </a:defRPr>
            </a:pPr>
            <a:r>
              <a:t>Narrative Arc</a:t>
            </a:r>
          </a:p>
        </p:txBody>
      </p:sp>
      <p:sp>
        <p:nvSpPr>
          <p:cNvPr id="24" name="TextBox 23"/>
          <p:cNvSpPr txBox="1"/>
          <p:nvPr/>
        </p:nvSpPr>
        <p:spPr>
          <a:xfrm>
            <a:off x="3566160" y="5138928"/>
            <a:ext cx="7772400" cy="457200"/>
          </a:xfrm>
          <a:prstGeom prst="rect">
            <a:avLst/>
          </a:prstGeom>
          <a:noFill/>
        </p:spPr>
        <p:txBody>
          <a:bodyPr wrap="square">
            <a:spAutoFit/>
          </a:bodyPr>
          <a:lstStyle/>
          <a:p>
            <a:pPr algn="l">
              <a:lnSpc>
                <a:spcPts val="1700"/>
              </a:lnSpc>
              <a:defRPr sz="1100" b="0" i="0">
                <a:solidFill>
                  <a:srgbClr val="666666"/>
                </a:solidFill>
                <a:latin typeface="Calibri"/>
              </a:defRPr>
            </a:pPr>
            <a:r>
              <a:t>A six-phase story structure — Threshold to Integration — that gives every shared experience a beginning, climax, and resolution.</a:t>
            </a:r>
          </a:p>
        </p:txBody>
      </p:sp>
      <p:sp>
        <p:nvSpPr>
          <p:cNvPr id="25" name="TextBox 24"/>
          <p:cNvSpPr txBox="1"/>
          <p:nvPr/>
        </p:nvSpPr>
        <p:spPr>
          <a:xfrm>
            <a:off x="822960" y="6126480"/>
            <a:ext cx="7315200" cy="274320"/>
          </a:xfrm>
          <a:prstGeom prst="rect">
            <a:avLst/>
          </a:prstGeom>
          <a:noFill/>
        </p:spPr>
        <p:txBody>
          <a:bodyPr wrap="square">
            <a:spAutoFit/>
          </a:bodyPr>
          <a:lstStyle/>
          <a:p>
            <a:pPr algn="l">
              <a:defRPr sz="1200" b="1" i="0">
                <a:solidFill>
                  <a:srgbClr val="808080"/>
                </a:solidFill>
                <a:latin typeface="Calibri"/>
              </a:defRPr>
            </a:pPr>
            <a:r>
              <a:t>One link. Five layers. A complete experience anyone can open.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612648"/>
            <a:ext cx="2743200" cy="228600"/>
          </a:xfrm>
          <a:prstGeom prst="rect">
            <a:avLst/>
          </a:prstGeom>
          <a:noFill/>
        </p:spPr>
        <p:txBody>
          <a:bodyPr wrap="square">
            <a:spAutoFit/>
          </a:bodyPr>
          <a:lstStyle/>
          <a:p>
            <a:pPr algn="l">
              <a:defRPr sz="900" b="0" i="0">
                <a:solidFill>
                  <a:srgbClr val="7C3AED"/>
                </a:solidFill>
                <a:latin typeface="Consolas"/>
              </a:defRPr>
            </a:pPr>
            <a:r>
              <a:t>INSTALLATION MODE</a:t>
            </a:r>
          </a:p>
        </p:txBody>
      </p:sp>
      <p:sp>
        <p:nvSpPr>
          <p:cNvPr id="3" name="TextBox 2"/>
          <p:cNvSpPr txBox="1"/>
          <p:nvPr/>
        </p:nvSpPr>
        <p:spPr>
          <a:xfrm>
            <a:off x="822960" y="868680"/>
            <a:ext cx="9144000" cy="640080"/>
          </a:xfrm>
          <a:prstGeom prst="rect">
            <a:avLst/>
          </a:prstGeom>
          <a:noFill/>
        </p:spPr>
        <p:txBody>
          <a:bodyPr wrap="square">
            <a:spAutoFit/>
          </a:bodyPr>
          <a:lstStyle/>
          <a:p>
            <a:pPr algn="l">
              <a:defRPr sz="4200" b="1" i="0">
                <a:solidFill>
                  <a:srgbClr val="FFFFFF"/>
                </a:solidFill>
                <a:latin typeface="Calibri"/>
              </a:defRPr>
            </a:pPr>
            <a:r>
              <a:t>Not just software. A medium.</a:t>
            </a:r>
          </a:p>
        </p:txBody>
      </p:sp>
      <p:sp>
        <p:nvSpPr>
          <p:cNvPr id="4" name="TextBox 3"/>
          <p:cNvSpPr txBox="1"/>
          <p:nvPr/>
        </p:nvSpPr>
        <p:spPr>
          <a:xfrm>
            <a:off x="822960" y="1600200"/>
            <a:ext cx="6400800" cy="548640"/>
          </a:xfrm>
          <a:prstGeom prst="rect">
            <a:avLst/>
          </a:prstGeom>
          <a:noFill/>
        </p:spPr>
        <p:txBody>
          <a:bodyPr wrap="square">
            <a:spAutoFit/>
          </a:bodyPr>
          <a:lstStyle/>
          <a:p>
            <a:pPr algn="l">
              <a:lnSpc>
                <a:spcPts val="2200"/>
              </a:lnSpc>
              <a:defRPr sz="1400" b="0" i="0">
                <a:solidFill>
                  <a:srgbClr val="737373"/>
                </a:solidFill>
                <a:latin typeface="Calibri"/>
              </a:defRPr>
            </a:pPr>
            <a:r>
              <a:t>A dedicated kiosk mode designed for physical spaces — galleries, lobbies, performance venues, studios, and public environments.</a:t>
            </a:r>
          </a:p>
        </p:txBody>
      </p:sp>
      <p:sp>
        <p:nvSpPr>
          <p:cNvPr id="5" name="Rectangle 4"/>
          <p:cNvSpPr/>
          <p:nvPr/>
        </p:nvSpPr>
        <p:spPr>
          <a:xfrm>
            <a:off x="822960" y="2468880"/>
            <a:ext cx="3200400" cy="1188720"/>
          </a:xfrm>
          <a:prstGeom prst="rect">
            <a:avLst/>
          </a:prstGeom>
          <a:noFill/>
          <a:ln w="12700">
            <a:solidFill>
              <a:srgbClr val="2A1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651760"/>
            <a:ext cx="2834640" cy="228600"/>
          </a:xfrm>
          <a:prstGeom prst="rect">
            <a:avLst/>
          </a:prstGeom>
          <a:noFill/>
        </p:spPr>
        <p:txBody>
          <a:bodyPr wrap="square">
            <a:spAutoFit/>
          </a:bodyPr>
          <a:lstStyle/>
          <a:p>
            <a:pPr algn="l">
              <a:defRPr sz="1200" b="1" i="0">
                <a:solidFill>
                  <a:srgbClr val="FFFFFF"/>
                </a:solidFill>
                <a:latin typeface="Calibri"/>
              </a:defRPr>
            </a:pPr>
            <a:r>
              <a:t>Gallery Installation</a:t>
            </a:r>
          </a:p>
        </p:txBody>
      </p:sp>
      <p:sp>
        <p:nvSpPr>
          <p:cNvPr id="7" name="TextBox 6"/>
          <p:cNvSpPr txBox="1"/>
          <p:nvPr/>
        </p:nvSpPr>
        <p:spPr>
          <a:xfrm>
            <a:off x="1005840" y="2971800"/>
            <a:ext cx="2834640" cy="640080"/>
          </a:xfrm>
          <a:prstGeom prst="rect">
            <a:avLst/>
          </a:prstGeom>
          <a:noFill/>
        </p:spPr>
        <p:txBody>
          <a:bodyPr wrap="square">
            <a:spAutoFit/>
          </a:bodyPr>
          <a:lstStyle/>
          <a:p>
            <a:pPr algn="l">
              <a:lnSpc>
                <a:spcPts val="1700"/>
              </a:lnSpc>
              <a:defRPr sz="1100" b="0" i="0">
                <a:solidFill>
                  <a:srgbClr val="666666"/>
                </a:solidFill>
                <a:latin typeface="Calibri"/>
              </a:defRPr>
            </a:pPr>
            <a:r>
              <a:t>A pianist's recordings visualized as living art. Visitors walk into a room where music creates its own visual world.</a:t>
            </a:r>
          </a:p>
        </p:txBody>
      </p:sp>
      <p:sp>
        <p:nvSpPr>
          <p:cNvPr id="8" name="Rectangle 7"/>
          <p:cNvSpPr/>
          <p:nvPr/>
        </p:nvSpPr>
        <p:spPr>
          <a:xfrm>
            <a:off x="4389120" y="2468880"/>
            <a:ext cx="3200400" cy="1188720"/>
          </a:xfrm>
          <a:prstGeom prst="rect">
            <a:avLst/>
          </a:prstGeom>
          <a:noFill/>
          <a:ln w="12700">
            <a:solidFill>
              <a:srgbClr val="2A1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651760"/>
            <a:ext cx="2834640" cy="228600"/>
          </a:xfrm>
          <a:prstGeom prst="rect">
            <a:avLst/>
          </a:prstGeom>
          <a:noFill/>
        </p:spPr>
        <p:txBody>
          <a:bodyPr wrap="square">
            <a:spAutoFit/>
          </a:bodyPr>
          <a:lstStyle/>
          <a:p>
            <a:pPr algn="l">
              <a:defRPr sz="1200" b="1" i="0">
                <a:solidFill>
                  <a:srgbClr val="FFFFFF"/>
                </a:solidFill>
                <a:latin typeface="Calibri"/>
              </a:defRPr>
            </a:pPr>
            <a:r>
              <a:t>Live Performance</a:t>
            </a:r>
          </a:p>
        </p:txBody>
      </p:sp>
      <p:sp>
        <p:nvSpPr>
          <p:cNvPr id="10" name="TextBox 9"/>
          <p:cNvSpPr txBox="1"/>
          <p:nvPr/>
        </p:nvSpPr>
        <p:spPr>
          <a:xfrm>
            <a:off x="4572000" y="2971800"/>
            <a:ext cx="2834640" cy="640080"/>
          </a:xfrm>
          <a:prstGeom prst="rect">
            <a:avLst/>
          </a:prstGeom>
          <a:noFill/>
        </p:spPr>
        <p:txBody>
          <a:bodyPr wrap="square">
            <a:spAutoFit/>
          </a:bodyPr>
          <a:lstStyle/>
          <a:p>
            <a:pPr algn="l">
              <a:lnSpc>
                <a:spcPts val="1700"/>
              </a:lnSpc>
              <a:defRPr sz="1100" b="0" i="0">
                <a:solidFill>
                  <a:srgbClr val="666666"/>
                </a:solidFill>
                <a:latin typeface="Calibri"/>
              </a:defRPr>
            </a:pPr>
            <a:r>
              <a:t>A musician performs while The Room generates real-time visuals behind them. A unique visual experience for every show.</a:t>
            </a:r>
          </a:p>
        </p:txBody>
      </p:sp>
      <p:sp>
        <p:nvSpPr>
          <p:cNvPr id="11" name="Rectangle 10"/>
          <p:cNvSpPr/>
          <p:nvPr/>
        </p:nvSpPr>
        <p:spPr>
          <a:xfrm>
            <a:off x="7955280" y="2468880"/>
            <a:ext cx="3200400" cy="1188720"/>
          </a:xfrm>
          <a:prstGeom prst="rect">
            <a:avLst/>
          </a:prstGeom>
          <a:noFill/>
          <a:ln w="12700">
            <a:solidFill>
              <a:srgbClr val="2A1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2651760"/>
            <a:ext cx="2834640" cy="228600"/>
          </a:xfrm>
          <a:prstGeom prst="rect">
            <a:avLst/>
          </a:prstGeom>
          <a:noFill/>
        </p:spPr>
        <p:txBody>
          <a:bodyPr wrap="square">
            <a:spAutoFit/>
          </a:bodyPr>
          <a:lstStyle/>
          <a:p>
            <a:pPr algn="l">
              <a:defRPr sz="1200" b="1" i="0">
                <a:solidFill>
                  <a:srgbClr val="FFFFFF"/>
                </a:solidFill>
                <a:latin typeface="Calibri"/>
              </a:defRPr>
            </a:pPr>
            <a:r>
              <a:t>Meditation &amp; Healing</a:t>
            </a:r>
          </a:p>
        </p:txBody>
      </p:sp>
      <p:sp>
        <p:nvSpPr>
          <p:cNvPr id="13" name="TextBox 12"/>
          <p:cNvSpPr txBox="1"/>
          <p:nvPr/>
        </p:nvSpPr>
        <p:spPr>
          <a:xfrm>
            <a:off x="8138160" y="2971800"/>
            <a:ext cx="2834640" cy="640080"/>
          </a:xfrm>
          <a:prstGeom prst="rect">
            <a:avLst/>
          </a:prstGeom>
          <a:noFill/>
        </p:spPr>
        <p:txBody>
          <a:bodyPr wrap="square">
            <a:spAutoFit/>
          </a:bodyPr>
          <a:lstStyle/>
          <a:p>
            <a:pPr algn="l">
              <a:lnSpc>
                <a:spcPts val="1700"/>
              </a:lnSpc>
              <a:defRPr sz="1100" b="0" i="0">
                <a:solidFill>
                  <a:srgbClr val="666666"/>
                </a:solidFill>
                <a:latin typeface="Calibri"/>
              </a:defRPr>
            </a:pPr>
            <a:r>
              <a:t>Spa lobbies, therapy offices, yoga studios. Ambient music with gently evolving visuals and whispered poetry.</a:t>
            </a:r>
          </a:p>
        </p:txBody>
      </p:sp>
      <p:sp>
        <p:nvSpPr>
          <p:cNvPr id="14" name="Rectangle 13"/>
          <p:cNvSpPr/>
          <p:nvPr/>
        </p:nvSpPr>
        <p:spPr>
          <a:xfrm>
            <a:off x="822960" y="3931920"/>
            <a:ext cx="3200400" cy="1188720"/>
          </a:xfrm>
          <a:prstGeom prst="rect">
            <a:avLst/>
          </a:prstGeom>
          <a:noFill/>
          <a:ln w="12700">
            <a:solidFill>
              <a:srgbClr val="2A1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114800"/>
            <a:ext cx="2834640" cy="228600"/>
          </a:xfrm>
          <a:prstGeom prst="rect">
            <a:avLst/>
          </a:prstGeom>
          <a:noFill/>
        </p:spPr>
        <p:txBody>
          <a:bodyPr wrap="square">
            <a:spAutoFit/>
          </a:bodyPr>
          <a:lstStyle/>
          <a:p>
            <a:pPr algn="l">
              <a:defRPr sz="1200" b="1" i="0">
                <a:solidFill>
                  <a:srgbClr val="FFFFFF"/>
                </a:solidFill>
                <a:latin typeface="Calibri"/>
              </a:defRPr>
            </a:pPr>
            <a:r>
              <a:t>Retail &amp; Hospitality</a:t>
            </a:r>
          </a:p>
        </p:txBody>
      </p:sp>
      <p:sp>
        <p:nvSpPr>
          <p:cNvPr id="16" name="TextBox 15"/>
          <p:cNvSpPr txBox="1"/>
          <p:nvPr/>
        </p:nvSpPr>
        <p:spPr>
          <a:xfrm>
            <a:off x="1005840" y="4434840"/>
            <a:ext cx="2834640" cy="640080"/>
          </a:xfrm>
          <a:prstGeom prst="rect">
            <a:avLst/>
          </a:prstGeom>
          <a:noFill/>
        </p:spPr>
        <p:txBody>
          <a:bodyPr wrap="square">
            <a:spAutoFit/>
          </a:bodyPr>
          <a:lstStyle/>
          <a:p>
            <a:pPr algn="l">
              <a:lnSpc>
                <a:spcPts val="1700"/>
              </a:lnSpc>
              <a:defRPr sz="1100" b="0" i="0">
                <a:solidFill>
                  <a:srgbClr val="666666"/>
                </a:solidFill>
                <a:latin typeface="Calibri"/>
              </a:defRPr>
            </a:pPr>
            <a:r>
              <a:t>Hotels, restaurants, boutiques. Curated sonic-visual environments that set a mood without demanding attention.</a:t>
            </a:r>
          </a:p>
        </p:txBody>
      </p:sp>
      <p:sp>
        <p:nvSpPr>
          <p:cNvPr id="17" name="Rectangle 16"/>
          <p:cNvSpPr/>
          <p:nvPr/>
        </p:nvSpPr>
        <p:spPr>
          <a:xfrm>
            <a:off x="4389120" y="3931920"/>
            <a:ext cx="3200400" cy="1188720"/>
          </a:xfrm>
          <a:prstGeom prst="rect">
            <a:avLst/>
          </a:prstGeom>
          <a:noFill/>
          <a:ln w="12700">
            <a:solidFill>
              <a:srgbClr val="2A1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4114800"/>
            <a:ext cx="2834640" cy="228600"/>
          </a:xfrm>
          <a:prstGeom prst="rect">
            <a:avLst/>
          </a:prstGeom>
          <a:noFill/>
        </p:spPr>
        <p:txBody>
          <a:bodyPr wrap="square">
            <a:spAutoFit/>
          </a:bodyPr>
          <a:lstStyle/>
          <a:p>
            <a:pPr algn="l">
              <a:defRPr sz="1200" b="1" i="0">
                <a:solidFill>
                  <a:srgbClr val="FFFFFF"/>
                </a:solidFill>
                <a:latin typeface="Calibri"/>
              </a:defRPr>
            </a:pPr>
            <a:r>
              <a:t>Museum &amp; Cultural</a:t>
            </a:r>
          </a:p>
        </p:txBody>
      </p:sp>
      <p:sp>
        <p:nvSpPr>
          <p:cNvPr id="19" name="TextBox 18"/>
          <p:cNvSpPr txBox="1"/>
          <p:nvPr/>
        </p:nvSpPr>
        <p:spPr>
          <a:xfrm>
            <a:off x="4572000" y="4434840"/>
            <a:ext cx="2834640" cy="640080"/>
          </a:xfrm>
          <a:prstGeom prst="rect">
            <a:avLst/>
          </a:prstGeom>
          <a:noFill/>
        </p:spPr>
        <p:txBody>
          <a:bodyPr wrap="square">
            <a:spAutoFit/>
          </a:bodyPr>
          <a:lstStyle/>
          <a:p>
            <a:pPr algn="l">
              <a:lnSpc>
                <a:spcPts val="1700"/>
              </a:lnSpc>
              <a:defRPr sz="1100" b="0" i="0">
                <a:solidFill>
                  <a:srgbClr val="666666"/>
                </a:solidFill>
                <a:latin typeface="Calibri"/>
              </a:defRPr>
            </a:pPr>
            <a:r>
              <a:t>Pair historical recordings with visual journeys. A Chopin nocturne through the Winter realm. Jazz through Cosmos.</a:t>
            </a:r>
          </a:p>
        </p:txBody>
      </p:sp>
      <p:sp>
        <p:nvSpPr>
          <p:cNvPr id="20" name="Rectangle 19"/>
          <p:cNvSpPr/>
          <p:nvPr/>
        </p:nvSpPr>
        <p:spPr>
          <a:xfrm>
            <a:off x="7955280" y="3931920"/>
            <a:ext cx="3200400" cy="1188720"/>
          </a:xfrm>
          <a:prstGeom prst="rect">
            <a:avLst/>
          </a:prstGeom>
          <a:noFill/>
          <a:ln w="12700">
            <a:solidFill>
              <a:srgbClr val="2A1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4114800"/>
            <a:ext cx="2834640" cy="228600"/>
          </a:xfrm>
          <a:prstGeom prst="rect">
            <a:avLst/>
          </a:prstGeom>
          <a:noFill/>
        </p:spPr>
        <p:txBody>
          <a:bodyPr wrap="square">
            <a:spAutoFit/>
          </a:bodyPr>
          <a:lstStyle/>
          <a:p>
            <a:pPr algn="l">
              <a:defRPr sz="1200" b="1" i="0">
                <a:solidFill>
                  <a:srgbClr val="FFFFFF"/>
                </a:solidFill>
                <a:latin typeface="Calibri"/>
              </a:defRPr>
            </a:pPr>
            <a:r>
              <a:t>Studio Waiting Rooms</a:t>
            </a:r>
          </a:p>
        </p:txBody>
      </p:sp>
      <p:sp>
        <p:nvSpPr>
          <p:cNvPr id="22" name="TextBox 21"/>
          <p:cNvSpPr txBox="1"/>
          <p:nvPr/>
        </p:nvSpPr>
        <p:spPr>
          <a:xfrm>
            <a:off x="8138160" y="4434840"/>
            <a:ext cx="2834640" cy="640080"/>
          </a:xfrm>
          <a:prstGeom prst="rect">
            <a:avLst/>
          </a:prstGeom>
          <a:noFill/>
        </p:spPr>
        <p:txBody>
          <a:bodyPr wrap="square">
            <a:spAutoFit/>
          </a:bodyPr>
          <a:lstStyle/>
          <a:p>
            <a:pPr algn="l">
              <a:lnSpc>
                <a:spcPts val="1700"/>
              </a:lnSpc>
              <a:defRPr sz="1100" b="0" i="0">
                <a:solidFill>
                  <a:srgbClr val="666666"/>
                </a:solidFill>
                <a:latin typeface="Calibri"/>
              </a:defRPr>
            </a:pPr>
            <a:r>
              <a:t>Recording studios, music schools, creative agencies. Showcase original music as a visual experience while clients wait.</a:t>
            </a:r>
          </a:p>
        </p:txBody>
      </p:sp>
      <p:sp>
        <p:nvSpPr>
          <p:cNvPr id="23" name="TextBox 22"/>
          <p:cNvSpPr txBox="1"/>
          <p:nvPr/>
        </p:nvSpPr>
        <p:spPr>
          <a:xfrm>
            <a:off x="822960" y="6126480"/>
            <a:ext cx="10515600" cy="228600"/>
          </a:xfrm>
          <a:prstGeom prst="rect">
            <a:avLst/>
          </a:prstGeom>
          <a:noFill/>
        </p:spPr>
        <p:txBody>
          <a:bodyPr wrap="square">
            <a:spAutoFit/>
          </a:bodyPr>
          <a:lstStyle/>
          <a:p>
            <a:pPr algn="l">
              <a:defRPr sz="800" b="0" i="0">
                <a:solidFill>
                  <a:srgbClr val="404040"/>
                </a:solidFill>
                <a:latin typeface="Consolas"/>
              </a:defRPr>
            </a:pPr>
            <a:r>
              <a:t>Auto-play curated queue   |   Fullscreen kiosk mode   |   Cursor auto-hide   |   Loop indefinitely   |   URL-configurable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612648"/>
            <a:ext cx="2743200" cy="228600"/>
          </a:xfrm>
          <a:prstGeom prst="rect">
            <a:avLst/>
          </a:prstGeom>
          <a:noFill/>
        </p:spPr>
        <p:txBody>
          <a:bodyPr wrap="square">
            <a:spAutoFit/>
          </a:bodyPr>
          <a:lstStyle/>
          <a:p>
            <a:pPr algn="l">
              <a:defRPr sz="900" b="0" i="0">
                <a:solidFill>
                  <a:srgbClr val="7C3AED"/>
                </a:solidFill>
                <a:latin typeface="Consolas"/>
              </a:defRPr>
            </a:pPr>
            <a:r>
              <a:t>INSIGHTS</a:t>
            </a:r>
          </a:p>
        </p:txBody>
      </p:sp>
      <p:sp>
        <p:nvSpPr>
          <p:cNvPr id="3" name="TextBox 2"/>
          <p:cNvSpPr txBox="1"/>
          <p:nvPr/>
        </p:nvSpPr>
        <p:spPr>
          <a:xfrm>
            <a:off x="822960" y="868680"/>
            <a:ext cx="9144000" cy="640080"/>
          </a:xfrm>
          <a:prstGeom prst="rect">
            <a:avLst/>
          </a:prstGeom>
          <a:noFill/>
        </p:spPr>
        <p:txBody>
          <a:bodyPr wrap="square">
            <a:spAutoFit/>
          </a:bodyPr>
          <a:lstStyle/>
          <a:p>
            <a:pPr algn="l">
              <a:defRPr sz="4200" b="1" i="0">
                <a:solidFill>
                  <a:srgbClr val="FFFFFF"/>
                </a:solidFill>
                <a:latin typeface="Calibri"/>
              </a:defRPr>
            </a:pPr>
            <a:r>
              <a:t>Your musical DNA.</a:t>
            </a:r>
          </a:p>
        </p:txBody>
      </p:sp>
      <p:sp>
        <p:nvSpPr>
          <p:cNvPr id="4" name="TextBox 3"/>
          <p:cNvSpPr txBox="1"/>
          <p:nvPr/>
        </p:nvSpPr>
        <p:spPr>
          <a:xfrm>
            <a:off x="822960" y="1600200"/>
            <a:ext cx="4572000" cy="365760"/>
          </a:xfrm>
          <a:prstGeom prst="rect">
            <a:avLst/>
          </a:prstGeom>
          <a:noFill/>
        </p:spPr>
        <p:txBody>
          <a:bodyPr wrap="square">
            <a:spAutoFit/>
          </a:bodyPr>
          <a:lstStyle/>
          <a:p>
            <a:pPr algn="l">
              <a:defRPr sz="1400" b="0" i="0">
                <a:solidFill>
                  <a:srgbClr val="737373"/>
                </a:solidFill>
                <a:latin typeface="Calibri"/>
              </a:defRPr>
            </a:pPr>
            <a:r>
              <a:t>See patterns across your entire creative output.</a:t>
            </a:r>
          </a:p>
        </p:txBody>
      </p:sp>
      <p:sp>
        <p:nvSpPr>
          <p:cNvPr id="5" name="TextBox 4"/>
          <p:cNvSpPr txBox="1"/>
          <p:nvPr/>
        </p:nvSpPr>
        <p:spPr>
          <a:xfrm>
            <a:off x="822960" y="2377440"/>
            <a:ext cx="5029200" cy="228600"/>
          </a:xfrm>
          <a:prstGeom prst="rect">
            <a:avLst/>
          </a:prstGeom>
          <a:noFill/>
        </p:spPr>
        <p:txBody>
          <a:bodyPr wrap="square">
            <a:spAutoFit/>
          </a:bodyPr>
          <a:lstStyle/>
          <a:p>
            <a:pPr algn="l">
              <a:defRPr sz="1300" b="1" i="0">
                <a:solidFill>
                  <a:srgbClr val="FFFFFF"/>
                </a:solidFill>
                <a:latin typeface="Calibri"/>
              </a:defRPr>
            </a:pPr>
            <a:r>
              <a:t>Key Distribution</a:t>
            </a:r>
          </a:p>
        </p:txBody>
      </p:sp>
      <p:sp>
        <p:nvSpPr>
          <p:cNvPr id="6" name="TextBox 5"/>
          <p:cNvSpPr txBox="1"/>
          <p:nvPr/>
        </p:nvSpPr>
        <p:spPr>
          <a:xfrm>
            <a:off x="822960" y="2697480"/>
            <a:ext cx="5029200" cy="640080"/>
          </a:xfrm>
          <a:prstGeom prst="rect">
            <a:avLst/>
          </a:prstGeom>
          <a:noFill/>
        </p:spPr>
        <p:txBody>
          <a:bodyPr wrap="square">
            <a:spAutoFit/>
          </a:bodyPr>
          <a:lstStyle/>
          <a:p>
            <a:pPr algn="l">
              <a:lnSpc>
                <a:spcPts val="1700"/>
              </a:lnSpc>
              <a:defRPr sz="1100" b="0" i="0">
                <a:solidFill>
                  <a:srgbClr val="666666"/>
                </a:solidFill>
                <a:latin typeface="Calibri"/>
              </a:defRPr>
            </a:pPr>
            <a:r>
              <a:t>Which keys you gravitate toward. Major vs minor tendencies. Patterns you didn't know you had.</a:t>
            </a:r>
          </a:p>
        </p:txBody>
      </p:sp>
      <p:sp>
        <p:nvSpPr>
          <p:cNvPr id="7" name="TextBox 6"/>
          <p:cNvSpPr txBox="1"/>
          <p:nvPr/>
        </p:nvSpPr>
        <p:spPr>
          <a:xfrm>
            <a:off x="6309360" y="2377440"/>
            <a:ext cx="5029200" cy="228600"/>
          </a:xfrm>
          <a:prstGeom prst="rect">
            <a:avLst/>
          </a:prstGeom>
          <a:noFill/>
        </p:spPr>
        <p:txBody>
          <a:bodyPr wrap="square">
            <a:spAutoFit/>
          </a:bodyPr>
          <a:lstStyle/>
          <a:p>
            <a:pPr algn="l">
              <a:defRPr sz="1300" b="1" i="0">
                <a:solidFill>
                  <a:srgbClr val="FFFFFF"/>
                </a:solidFill>
                <a:latin typeface="Calibri"/>
              </a:defRPr>
            </a:pPr>
            <a:r>
              <a:t>Chord Vocabulary</a:t>
            </a:r>
          </a:p>
        </p:txBody>
      </p:sp>
      <p:sp>
        <p:nvSpPr>
          <p:cNvPr id="8" name="TextBox 7"/>
          <p:cNvSpPr txBox="1"/>
          <p:nvPr/>
        </p:nvSpPr>
        <p:spPr>
          <a:xfrm>
            <a:off x="6309360" y="2697480"/>
            <a:ext cx="5029200" cy="640080"/>
          </a:xfrm>
          <a:prstGeom prst="rect">
            <a:avLst/>
          </a:prstGeom>
          <a:noFill/>
        </p:spPr>
        <p:txBody>
          <a:bodyPr wrap="square">
            <a:spAutoFit/>
          </a:bodyPr>
          <a:lstStyle/>
          <a:p>
            <a:pPr algn="l">
              <a:lnSpc>
                <a:spcPts val="1700"/>
              </a:lnSpc>
              <a:defRPr sz="1100" b="0" i="0">
                <a:solidFill>
                  <a:srgbClr val="666666"/>
                </a:solidFill>
                <a:latin typeface="Calibri"/>
              </a:defRPr>
            </a:pPr>
            <a:r>
              <a:t>Frequency analysis of every chord across your library. Jazz-influenced, diatonic, chromatic — see your harmonic fingerprint.</a:t>
            </a:r>
          </a:p>
        </p:txBody>
      </p:sp>
      <p:sp>
        <p:nvSpPr>
          <p:cNvPr id="9" name="TextBox 8"/>
          <p:cNvSpPr txBox="1"/>
          <p:nvPr/>
        </p:nvSpPr>
        <p:spPr>
          <a:xfrm>
            <a:off x="822960" y="3566160"/>
            <a:ext cx="5029200" cy="228600"/>
          </a:xfrm>
          <a:prstGeom prst="rect">
            <a:avLst/>
          </a:prstGeom>
          <a:noFill/>
        </p:spPr>
        <p:txBody>
          <a:bodyPr wrap="square">
            <a:spAutoFit/>
          </a:bodyPr>
          <a:lstStyle/>
          <a:p>
            <a:pPr algn="l">
              <a:defRPr sz="1300" b="1" i="0">
                <a:solidFill>
                  <a:srgbClr val="FFFFFF"/>
                </a:solidFill>
                <a:latin typeface="Calibri"/>
              </a:defRPr>
            </a:pPr>
            <a:r>
              <a:t>Recurring Progressions</a:t>
            </a:r>
          </a:p>
        </p:txBody>
      </p:sp>
      <p:sp>
        <p:nvSpPr>
          <p:cNvPr id="10" name="TextBox 9"/>
          <p:cNvSpPr txBox="1"/>
          <p:nvPr/>
        </p:nvSpPr>
        <p:spPr>
          <a:xfrm>
            <a:off x="822960" y="3886200"/>
            <a:ext cx="5029200" cy="640080"/>
          </a:xfrm>
          <a:prstGeom prst="rect">
            <a:avLst/>
          </a:prstGeom>
          <a:noFill/>
        </p:spPr>
        <p:txBody>
          <a:bodyPr wrap="square">
            <a:spAutoFit/>
          </a:bodyPr>
          <a:lstStyle/>
          <a:p>
            <a:pPr algn="l">
              <a:lnSpc>
                <a:spcPts val="1700"/>
              </a:lnSpc>
              <a:defRPr sz="1100" b="0" i="0">
                <a:solidFill>
                  <a:srgbClr val="666666"/>
                </a:solidFill>
                <a:latin typeface="Calibri"/>
              </a:defRPr>
            </a:pPr>
            <a:r>
              <a:t>Identify chord sequences that appear across multiple recordings. Your signature moves surfaced automatically.</a:t>
            </a:r>
          </a:p>
        </p:txBody>
      </p:sp>
      <p:sp>
        <p:nvSpPr>
          <p:cNvPr id="11" name="TextBox 10"/>
          <p:cNvSpPr txBox="1"/>
          <p:nvPr/>
        </p:nvSpPr>
        <p:spPr>
          <a:xfrm>
            <a:off x="6309360" y="3566160"/>
            <a:ext cx="5029200" cy="228600"/>
          </a:xfrm>
          <a:prstGeom prst="rect">
            <a:avLst/>
          </a:prstGeom>
          <a:noFill/>
        </p:spPr>
        <p:txBody>
          <a:bodyPr wrap="square">
            <a:spAutoFit/>
          </a:bodyPr>
          <a:lstStyle/>
          <a:p>
            <a:pPr algn="l">
              <a:defRPr sz="1300" b="1" i="0">
                <a:solidFill>
                  <a:srgbClr val="FFFFFF"/>
                </a:solidFill>
                <a:latin typeface="Calibri"/>
              </a:defRPr>
            </a:pPr>
            <a:r>
              <a:t>Recording Similarity</a:t>
            </a:r>
          </a:p>
        </p:txBody>
      </p:sp>
      <p:sp>
        <p:nvSpPr>
          <p:cNvPr id="12" name="TextBox 11"/>
          <p:cNvSpPr txBox="1"/>
          <p:nvPr/>
        </p:nvSpPr>
        <p:spPr>
          <a:xfrm>
            <a:off x="6309360" y="3886200"/>
            <a:ext cx="5029200" cy="640080"/>
          </a:xfrm>
          <a:prstGeom prst="rect">
            <a:avLst/>
          </a:prstGeom>
          <a:noFill/>
        </p:spPr>
        <p:txBody>
          <a:bodyPr wrap="square">
            <a:spAutoFit/>
          </a:bodyPr>
          <a:lstStyle/>
          <a:p>
            <a:pPr algn="l">
              <a:lnSpc>
                <a:spcPts val="1700"/>
              </a:lnSpc>
              <a:defRPr sz="1100" b="0" i="0">
                <a:solidFill>
                  <a:srgbClr val="666666"/>
                </a:solidFill>
                <a:latin typeface="Calibri"/>
              </a:defRPr>
            </a:pPr>
            <a:r>
              <a:t>Pairwise comparison by key, tempo, and chord overlap. Discover which of your recordings are harmonic siblings.</a:t>
            </a:r>
          </a:p>
        </p:txBody>
      </p:sp>
      <p:sp>
        <p:nvSpPr>
          <p:cNvPr id="13" name="TextBox 12"/>
          <p:cNvSpPr txBox="1"/>
          <p:nvPr/>
        </p:nvSpPr>
        <p:spPr>
          <a:xfrm>
            <a:off x="822960" y="4754880"/>
            <a:ext cx="5029200" cy="228600"/>
          </a:xfrm>
          <a:prstGeom prst="rect">
            <a:avLst/>
          </a:prstGeom>
          <a:noFill/>
        </p:spPr>
        <p:txBody>
          <a:bodyPr wrap="square">
            <a:spAutoFit/>
          </a:bodyPr>
          <a:lstStyle/>
          <a:p>
            <a:pPr algn="l">
              <a:defRPr sz="1300" b="1" i="0">
                <a:solidFill>
                  <a:srgbClr val="FFFFFF"/>
                </a:solidFill>
                <a:latin typeface="Calibri"/>
              </a:defRPr>
            </a:pPr>
            <a:r>
              <a:t>AI Library Portrait</a:t>
            </a:r>
          </a:p>
        </p:txBody>
      </p:sp>
      <p:sp>
        <p:nvSpPr>
          <p:cNvPr id="14" name="TextBox 13"/>
          <p:cNvSpPr txBox="1"/>
          <p:nvPr/>
        </p:nvSpPr>
        <p:spPr>
          <a:xfrm>
            <a:off x="822960" y="5074920"/>
            <a:ext cx="5029200" cy="640080"/>
          </a:xfrm>
          <a:prstGeom prst="rect">
            <a:avLst/>
          </a:prstGeom>
          <a:noFill/>
        </p:spPr>
        <p:txBody>
          <a:bodyPr wrap="square">
            <a:spAutoFit/>
          </a:bodyPr>
          <a:lstStyle/>
          <a:p>
            <a:pPr algn="l">
              <a:lnSpc>
                <a:spcPts val="1700"/>
              </a:lnSpc>
              <a:defRPr sz="1100" b="0" i="0">
                <a:solidFill>
                  <a:srgbClr val="666666"/>
                </a:solidFill>
                <a:latin typeface="Calibri"/>
              </a:defRPr>
            </a:pPr>
            <a:r>
              <a:t>Claude analyzes your entire library and writes a portrait of your musical identity — clusters, standout pieces, development arcs.</a:t>
            </a:r>
          </a:p>
        </p:txBody>
      </p:sp>
      <p:sp>
        <p:nvSpPr>
          <p:cNvPr id="15" name="TextBox 14"/>
          <p:cNvSpPr txBox="1"/>
          <p:nvPr/>
        </p:nvSpPr>
        <p:spPr>
          <a:xfrm>
            <a:off x="6309360" y="4754880"/>
            <a:ext cx="5029200" cy="228600"/>
          </a:xfrm>
          <a:prstGeom prst="rect">
            <a:avLst/>
          </a:prstGeom>
          <a:noFill/>
        </p:spPr>
        <p:txBody>
          <a:bodyPr wrap="square">
            <a:spAutoFit/>
          </a:bodyPr>
          <a:lstStyle/>
          <a:p>
            <a:pPr algn="l">
              <a:defRPr sz="1300" b="1" i="0">
                <a:solidFill>
                  <a:srgbClr val="FFFFFF"/>
                </a:solidFill>
                <a:latin typeface="Calibri"/>
              </a:defRPr>
            </a:pPr>
            <a:r>
              <a:t>Compare Mode</a:t>
            </a:r>
          </a:p>
        </p:txBody>
      </p:sp>
      <p:sp>
        <p:nvSpPr>
          <p:cNvPr id="16" name="TextBox 15"/>
          <p:cNvSpPr txBox="1"/>
          <p:nvPr/>
        </p:nvSpPr>
        <p:spPr>
          <a:xfrm>
            <a:off x="6309360" y="5074920"/>
            <a:ext cx="5029200" cy="640080"/>
          </a:xfrm>
          <a:prstGeom prst="rect">
            <a:avLst/>
          </a:prstGeom>
          <a:noFill/>
        </p:spPr>
        <p:txBody>
          <a:bodyPr wrap="square">
            <a:spAutoFit/>
          </a:bodyPr>
          <a:lstStyle/>
          <a:p>
            <a:pPr algn="l">
              <a:lnSpc>
                <a:spcPts val="1700"/>
              </a:lnSpc>
              <a:defRPr sz="1100" b="0" i="0">
                <a:solidFill>
                  <a:srgbClr val="666666"/>
                </a:solidFill>
                <a:latin typeface="Calibri"/>
              </a:defRPr>
            </a:pPr>
            <a:r>
              <a:t>Side-by-side analysis of any two recordings with match/differs badges and dedicated AI comparison chat.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612648"/>
            <a:ext cx="2743200" cy="228600"/>
          </a:xfrm>
          <a:prstGeom prst="rect">
            <a:avLst/>
          </a:prstGeom>
          <a:noFill/>
        </p:spPr>
        <p:txBody>
          <a:bodyPr wrap="square">
            <a:spAutoFit/>
          </a:bodyPr>
          <a:lstStyle/>
          <a:p>
            <a:pPr algn="l">
              <a:defRPr sz="900" b="0" i="0">
                <a:solidFill>
                  <a:srgbClr val="7C3AED"/>
                </a:solidFill>
                <a:latin typeface="Consolas"/>
              </a:defRPr>
            </a:pPr>
            <a:r>
              <a:t>TECHNOLOGY</a:t>
            </a:r>
          </a:p>
        </p:txBody>
      </p:sp>
      <p:sp>
        <p:nvSpPr>
          <p:cNvPr id="3" name="TextBox 2"/>
          <p:cNvSpPr txBox="1"/>
          <p:nvPr/>
        </p:nvSpPr>
        <p:spPr>
          <a:xfrm>
            <a:off x="822960" y="868680"/>
            <a:ext cx="9144000" cy="914400"/>
          </a:xfrm>
          <a:prstGeom prst="rect">
            <a:avLst/>
          </a:prstGeom>
          <a:noFill/>
        </p:spPr>
        <p:txBody>
          <a:bodyPr wrap="square">
            <a:spAutoFit/>
          </a:bodyPr>
          <a:lstStyle/>
          <a:p>
            <a:pPr algn="l">
              <a:lnSpc>
                <a:spcPts val="5000"/>
              </a:lnSpc>
              <a:defRPr sz="4200" b="1" i="0">
                <a:solidFill>
                  <a:srgbClr val="FFFFFF"/>
                </a:solidFill>
                <a:latin typeface="Calibri"/>
              </a:defRPr>
            </a:pPr>
            <a:r>
              <a:t>Built for musicians,</a:t>
            </a:r>
            <a:br/>
            <a:r>
              <a:t>powered by AI.</a:t>
            </a:r>
          </a:p>
        </p:txBody>
      </p:sp>
      <p:sp>
        <p:nvSpPr>
          <p:cNvPr id="4" name="TextBox 3"/>
          <p:cNvSpPr txBox="1"/>
          <p:nvPr/>
        </p:nvSpPr>
        <p:spPr>
          <a:xfrm>
            <a:off x="822960" y="2377440"/>
            <a:ext cx="1554480" cy="228600"/>
          </a:xfrm>
          <a:prstGeom prst="rect">
            <a:avLst/>
          </a:prstGeom>
          <a:noFill/>
        </p:spPr>
        <p:txBody>
          <a:bodyPr wrap="square">
            <a:spAutoFit/>
          </a:bodyPr>
          <a:lstStyle/>
          <a:p>
            <a:pPr algn="l">
              <a:defRPr sz="1100" b="0" i="0">
                <a:solidFill>
                  <a:srgbClr val="595959"/>
                </a:solidFill>
                <a:latin typeface="Calibri"/>
              </a:defRPr>
            </a:pPr>
            <a:r>
              <a:t>Frontend</a:t>
            </a:r>
          </a:p>
        </p:txBody>
      </p:sp>
      <p:sp>
        <p:nvSpPr>
          <p:cNvPr id="5" name="TextBox 4"/>
          <p:cNvSpPr txBox="1"/>
          <p:nvPr/>
        </p:nvSpPr>
        <p:spPr>
          <a:xfrm>
            <a:off x="2468880" y="2377440"/>
            <a:ext cx="3657600" cy="228600"/>
          </a:xfrm>
          <a:prstGeom prst="rect">
            <a:avLst/>
          </a:prstGeom>
          <a:noFill/>
        </p:spPr>
        <p:txBody>
          <a:bodyPr wrap="square">
            <a:spAutoFit/>
          </a:bodyPr>
          <a:lstStyle/>
          <a:p>
            <a:pPr algn="l">
              <a:defRPr sz="1000" b="0" i="0">
                <a:solidFill>
                  <a:srgbClr val="999999"/>
                </a:solidFill>
                <a:latin typeface="Consolas"/>
              </a:defRPr>
            </a:pPr>
            <a:r>
              <a:t>Next.js 15, React 19, TypeScript, Tailwind v4</a:t>
            </a:r>
          </a:p>
        </p:txBody>
      </p:sp>
      <p:sp>
        <p:nvSpPr>
          <p:cNvPr id="6" name="Rectangle 5"/>
          <p:cNvSpPr/>
          <p:nvPr/>
        </p:nvSpPr>
        <p:spPr>
          <a:xfrm>
            <a:off x="822960" y="2697480"/>
            <a:ext cx="5029200" cy="9144"/>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880360"/>
            <a:ext cx="1554480" cy="228600"/>
          </a:xfrm>
          <a:prstGeom prst="rect">
            <a:avLst/>
          </a:prstGeom>
          <a:noFill/>
        </p:spPr>
        <p:txBody>
          <a:bodyPr wrap="square">
            <a:spAutoFit/>
          </a:bodyPr>
          <a:lstStyle/>
          <a:p>
            <a:pPr algn="l">
              <a:defRPr sz="1100" b="0" i="0">
                <a:solidFill>
                  <a:srgbClr val="595959"/>
                </a:solidFill>
                <a:latin typeface="Calibri"/>
              </a:defRPr>
            </a:pPr>
            <a:r>
              <a:t>AI</a:t>
            </a:r>
          </a:p>
        </p:txBody>
      </p:sp>
      <p:sp>
        <p:nvSpPr>
          <p:cNvPr id="8" name="TextBox 7"/>
          <p:cNvSpPr txBox="1"/>
          <p:nvPr/>
        </p:nvSpPr>
        <p:spPr>
          <a:xfrm>
            <a:off x="2468880" y="2880360"/>
            <a:ext cx="3657600" cy="228600"/>
          </a:xfrm>
          <a:prstGeom prst="rect">
            <a:avLst/>
          </a:prstGeom>
          <a:noFill/>
        </p:spPr>
        <p:txBody>
          <a:bodyPr wrap="square">
            <a:spAutoFit/>
          </a:bodyPr>
          <a:lstStyle/>
          <a:p>
            <a:pPr algn="l">
              <a:defRPr sz="1000" b="0" i="0">
                <a:solidFill>
                  <a:srgbClr val="999999"/>
                </a:solidFill>
                <a:latin typeface="Consolas"/>
              </a:defRPr>
            </a:pPr>
            <a:r>
              <a:t>Claude (Anthropic) via Vercel AI SDK</a:t>
            </a:r>
          </a:p>
        </p:txBody>
      </p:sp>
      <p:sp>
        <p:nvSpPr>
          <p:cNvPr id="9" name="Rectangle 8"/>
          <p:cNvSpPr/>
          <p:nvPr/>
        </p:nvSpPr>
        <p:spPr>
          <a:xfrm>
            <a:off x="822960" y="3200400"/>
            <a:ext cx="5029200" cy="9144"/>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83280"/>
            <a:ext cx="1554480" cy="228600"/>
          </a:xfrm>
          <a:prstGeom prst="rect">
            <a:avLst/>
          </a:prstGeom>
          <a:noFill/>
        </p:spPr>
        <p:txBody>
          <a:bodyPr wrap="square">
            <a:spAutoFit/>
          </a:bodyPr>
          <a:lstStyle/>
          <a:p>
            <a:pPr algn="l">
              <a:defRPr sz="1100" b="0" i="0">
                <a:solidFill>
                  <a:srgbClr val="595959"/>
                </a:solidFill>
                <a:latin typeface="Calibri"/>
              </a:defRPr>
            </a:pPr>
            <a:r>
              <a:t>Audio Intelligence</a:t>
            </a:r>
          </a:p>
        </p:txBody>
      </p:sp>
      <p:sp>
        <p:nvSpPr>
          <p:cNvPr id="11" name="TextBox 10"/>
          <p:cNvSpPr txBox="1"/>
          <p:nvPr/>
        </p:nvSpPr>
        <p:spPr>
          <a:xfrm>
            <a:off x="2468880" y="3383280"/>
            <a:ext cx="3657600" cy="228600"/>
          </a:xfrm>
          <a:prstGeom prst="rect">
            <a:avLst/>
          </a:prstGeom>
          <a:noFill/>
        </p:spPr>
        <p:txBody>
          <a:bodyPr wrap="square">
            <a:spAutoFit/>
          </a:bodyPr>
          <a:lstStyle/>
          <a:p>
            <a:pPr algn="l">
              <a:defRPr sz="1000" b="0" i="0">
                <a:solidFill>
                  <a:srgbClr val="999999"/>
                </a:solidFill>
                <a:latin typeface="Consolas"/>
              </a:defRPr>
            </a:pPr>
            <a:r>
              <a:t>Spotify Basic Pitch, tonal.js</a:t>
            </a:r>
          </a:p>
        </p:txBody>
      </p:sp>
      <p:sp>
        <p:nvSpPr>
          <p:cNvPr id="12" name="Rectangle 11"/>
          <p:cNvSpPr/>
          <p:nvPr/>
        </p:nvSpPr>
        <p:spPr>
          <a:xfrm>
            <a:off x="822960" y="3703320"/>
            <a:ext cx="5029200" cy="9144"/>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886200"/>
            <a:ext cx="1554480" cy="228600"/>
          </a:xfrm>
          <a:prstGeom prst="rect">
            <a:avLst/>
          </a:prstGeom>
          <a:noFill/>
        </p:spPr>
        <p:txBody>
          <a:bodyPr wrap="square">
            <a:spAutoFit/>
          </a:bodyPr>
          <a:lstStyle/>
          <a:p>
            <a:pPr algn="l">
              <a:defRPr sz="1100" b="0" i="0">
                <a:solidFill>
                  <a:srgbClr val="595959"/>
                </a:solidFill>
                <a:latin typeface="Calibri"/>
              </a:defRPr>
            </a:pPr>
            <a:r>
              <a:t>Visualization</a:t>
            </a:r>
          </a:p>
        </p:txBody>
      </p:sp>
      <p:sp>
        <p:nvSpPr>
          <p:cNvPr id="14" name="TextBox 13"/>
          <p:cNvSpPr txBox="1"/>
          <p:nvPr/>
        </p:nvSpPr>
        <p:spPr>
          <a:xfrm>
            <a:off x="2468880" y="3886200"/>
            <a:ext cx="3657600" cy="228600"/>
          </a:xfrm>
          <a:prstGeom prst="rect">
            <a:avLst/>
          </a:prstGeom>
          <a:noFill/>
        </p:spPr>
        <p:txBody>
          <a:bodyPr wrap="square">
            <a:spAutoFit/>
          </a:bodyPr>
          <a:lstStyle/>
          <a:p>
            <a:pPr algn="l">
              <a:defRPr sz="1000" b="0" i="0">
                <a:solidFill>
                  <a:srgbClr val="999999"/>
                </a:solidFill>
                <a:latin typeface="Consolas"/>
              </a:defRPr>
            </a:pPr>
            <a:r>
              <a:t>WebGL (200+ shaders), Three.js (3D)</a:t>
            </a:r>
          </a:p>
        </p:txBody>
      </p:sp>
      <p:sp>
        <p:nvSpPr>
          <p:cNvPr id="15" name="Rectangle 14"/>
          <p:cNvSpPr/>
          <p:nvPr/>
        </p:nvSpPr>
        <p:spPr>
          <a:xfrm>
            <a:off x="822960" y="4206240"/>
            <a:ext cx="5029200" cy="9144"/>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377440"/>
            <a:ext cx="1554480" cy="228600"/>
          </a:xfrm>
          <a:prstGeom prst="rect">
            <a:avLst/>
          </a:prstGeom>
          <a:noFill/>
        </p:spPr>
        <p:txBody>
          <a:bodyPr wrap="square">
            <a:spAutoFit/>
          </a:bodyPr>
          <a:lstStyle/>
          <a:p>
            <a:pPr algn="l">
              <a:defRPr sz="1100" b="0" i="0">
                <a:solidFill>
                  <a:srgbClr val="595959"/>
                </a:solidFill>
                <a:latin typeface="Calibri"/>
              </a:defRPr>
            </a:pPr>
            <a:r>
              <a:t>Audio Engine</a:t>
            </a:r>
          </a:p>
        </p:txBody>
      </p:sp>
      <p:sp>
        <p:nvSpPr>
          <p:cNvPr id="17" name="TextBox 16"/>
          <p:cNvSpPr txBox="1"/>
          <p:nvPr/>
        </p:nvSpPr>
        <p:spPr>
          <a:xfrm>
            <a:off x="7955280" y="2377440"/>
            <a:ext cx="3657600" cy="228600"/>
          </a:xfrm>
          <a:prstGeom prst="rect">
            <a:avLst/>
          </a:prstGeom>
          <a:noFill/>
        </p:spPr>
        <p:txBody>
          <a:bodyPr wrap="square">
            <a:spAutoFit/>
          </a:bodyPr>
          <a:lstStyle/>
          <a:p>
            <a:pPr algn="l">
              <a:defRPr sz="1000" b="0" i="0">
                <a:solidFill>
                  <a:srgbClr val="999999"/>
                </a:solidFill>
                <a:latin typeface="Consolas"/>
              </a:defRPr>
            </a:pPr>
            <a:r>
              <a:t>Web Audio API, WaveSurfer.js</a:t>
            </a:r>
          </a:p>
        </p:txBody>
      </p:sp>
      <p:sp>
        <p:nvSpPr>
          <p:cNvPr id="18" name="Rectangle 17"/>
          <p:cNvSpPr/>
          <p:nvPr/>
        </p:nvSpPr>
        <p:spPr>
          <a:xfrm>
            <a:off x="6309360" y="2697480"/>
            <a:ext cx="5029200" cy="9144"/>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2880360"/>
            <a:ext cx="1554480" cy="228600"/>
          </a:xfrm>
          <a:prstGeom prst="rect">
            <a:avLst/>
          </a:prstGeom>
          <a:noFill/>
        </p:spPr>
        <p:txBody>
          <a:bodyPr wrap="square">
            <a:spAutoFit/>
          </a:bodyPr>
          <a:lstStyle/>
          <a:p>
            <a:pPr algn="l">
              <a:defRPr sz="1100" b="0" i="0">
                <a:solidFill>
                  <a:srgbClr val="595959"/>
                </a:solidFill>
                <a:latin typeface="Calibri"/>
              </a:defRPr>
            </a:pPr>
            <a:r>
              <a:t>Image Generation</a:t>
            </a:r>
          </a:p>
        </p:txBody>
      </p:sp>
      <p:sp>
        <p:nvSpPr>
          <p:cNvPr id="20" name="TextBox 19"/>
          <p:cNvSpPr txBox="1"/>
          <p:nvPr/>
        </p:nvSpPr>
        <p:spPr>
          <a:xfrm>
            <a:off x="7955280" y="2880360"/>
            <a:ext cx="3657600" cy="228600"/>
          </a:xfrm>
          <a:prstGeom prst="rect">
            <a:avLst/>
          </a:prstGeom>
          <a:noFill/>
        </p:spPr>
        <p:txBody>
          <a:bodyPr wrap="square">
            <a:spAutoFit/>
          </a:bodyPr>
          <a:lstStyle/>
          <a:p>
            <a:pPr algn="l">
              <a:defRPr sz="1000" b="0" i="0">
                <a:solidFill>
                  <a:srgbClr val="999999"/>
                </a:solidFill>
                <a:latin typeface="Consolas"/>
              </a:defRPr>
            </a:pPr>
            <a:r>
              <a:t>FAL Flux (real-time AI imagery)</a:t>
            </a:r>
          </a:p>
        </p:txBody>
      </p:sp>
      <p:sp>
        <p:nvSpPr>
          <p:cNvPr id="21" name="Rectangle 20"/>
          <p:cNvSpPr/>
          <p:nvPr/>
        </p:nvSpPr>
        <p:spPr>
          <a:xfrm>
            <a:off x="6309360" y="3200400"/>
            <a:ext cx="5029200" cy="9144"/>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3383280"/>
            <a:ext cx="1554480" cy="228600"/>
          </a:xfrm>
          <a:prstGeom prst="rect">
            <a:avLst/>
          </a:prstGeom>
          <a:noFill/>
        </p:spPr>
        <p:txBody>
          <a:bodyPr wrap="square">
            <a:spAutoFit/>
          </a:bodyPr>
          <a:lstStyle/>
          <a:p>
            <a:pPr algn="l">
              <a:defRPr sz="1100" b="0" i="0">
                <a:solidFill>
                  <a:srgbClr val="595959"/>
                </a:solidFill>
                <a:latin typeface="Calibri"/>
              </a:defRPr>
            </a:pPr>
            <a:r>
              <a:t>Backend</a:t>
            </a:r>
          </a:p>
        </p:txBody>
      </p:sp>
      <p:sp>
        <p:nvSpPr>
          <p:cNvPr id="23" name="TextBox 22"/>
          <p:cNvSpPr txBox="1"/>
          <p:nvPr/>
        </p:nvSpPr>
        <p:spPr>
          <a:xfrm>
            <a:off x="7955280" y="3383280"/>
            <a:ext cx="3657600" cy="228600"/>
          </a:xfrm>
          <a:prstGeom prst="rect">
            <a:avLst/>
          </a:prstGeom>
          <a:noFill/>
        </p:spPr>
        <p:txBody>
          <a:bodyPr wrap="square">
            <a:spAutoFit/>
          </a:bodyPr>
          <a:lstStyle/>
          <a:p>
            <a:pPr algn="l">
              <a:defRPr sz="1000" b="0" i="0">
                <a:solidFill>
                  <a:srgbClr val="999999"/>
                </a:solidFill>
                <a:latin typeface="Consolas"/>
              </a:defRPr>
            </a:pPr>
            <a:r>
              <a:t>Supabase (Auth, PostgreSQL, Storage)</a:t>
            </a:r>
          </a:p>
        </p:txBody>
      </p:sp>
      <p:sp>
        <p:nvSpPr>
          <p:cNvPr id="24" name="Rectangle 23"/>
          <p:cNvSpPr/>
          <p:nvPr/>
        </p:nvSpPr>
        <p:spPr>
          <a:xfrm>
            <a:off x="6309360" y="3703320"/>
            <a:ext cx="5029200" cy="9144"/>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3886200"/>
            <a:ext cx="1554480" cy="228600"/>
          </a:xfrm>
          <a:prstGeom prst="rect">
            <a:avLst/>
          </a:prstGeom>
          <a:noFill/>
        </p:spPr>
        <p:txBody>
          <a:bodyPr wrap="square">
            <a:spAutoFit/>
          </a:bodyPr>
          <a:lstStyle/>
          <a:p>
            <a:pPr algn="l">
              <a:defRPr sz="1100" b="0" i="0">
                <a:solidFill>
                  <a:srgbClr val="595959"/>
                </a:solidFill>
                <a:latin typeface="Calibri"/>
              </a:defRPr>
            </a:pPr>
            <a:r>
              <a:t>Hosting</a:t>
            </a:r>
          </a:p>
        </p:txBody>
      </p:sp>
      <p:sp>
        <p:nvSpPr>
          <p:cNvPr id="26" name="TextBox 25"/>
          <p:cNvSpPr txBox="1"/>
          <p:nvPr/>
        </p:nvSpPr>
        <p:spPr>
          <a:xfrm>
            <a:off x="7955280" y="3886200"/>
            <a:ext cx="3657600" cy="228600"/>
          </a:xfrm>
          <a:prstGeom prst="rect">
            <a:avLst/>
          </a:prstGeom>
          <a:noFill/>
        </p:spPr>
        <p:txBody>
          <a:bodyPr wrap="square">
            <a:spAutoFit/>
          </a:bodyPr>
          <a:lstStyle/>
          <a:p>
            <a:pPr algn="l">
              <a:defRPr sz="1000" b="0" i="0">
                <a:solidFill>
                  <a:srgbClr val="999999"/>
                </a:solidFill>
                <a:latin typeface="Consolas"/>
              </a:defRPr>
            </a:pPr>
            <a:r>
              <a:t>Vercel (serverless, edge)</a:t>
            </a:r>
          </a:p>
        </p:txBody>
      </p:sp>
      <p:sp>
        <p:nvSpPr>
          <p:cNvPr id="27" name="Rectangle 26"/>
          <p:cNvSpPr/>
          <p:nvPr/>
        </p:nvSpPr>
        <p:spPr>
          <a:xfrm>
            <a:off x="6309360" y="4206240"/>
            <a:ext cx="5029200" cy="9144"/>
          </a:xfrm>
          <a:prstGeom prst="rect">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 y="5120640"/>
            <a:ext cx="3200400" cy="914400"/>
          </a:xfrm>
          <a:prstGeom prst="rect">
            <a:avLst/>
          </a:prstGeom>
          <a:solidFill>
            <a:srgbClr val="120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257800"/>
            <a:ext cx="2834640" cy="228600"/>
          </a:xfrm>
          <a:prstGeom prst="rect">
            <a:avLst/>
          </a:prstGeom>
          <a:noFill/>
        </p:spPr>
        <p:txBody>
          <a:bodyPr wrap="square">
            <a:spAutoFit/>
          </a:bodyPr>
          <a:lstStyle/>
          <a:p>
            <a:pPr algn="l">
              <a:defRPr sz="1000" b="1" i="0">
                <a:solidFill>
                  <a:srgbClr val="999999"/>
                </a:solidFill>
                <a:latin typeface="Calibri"/>
              </a:defRPr>
            </a:pPr>
            <a:r>
              <a:t>Global audio singleton</a:t>
            </a:r>
          </a:p>
        </p:txBody>
      </p:sp>
      <p:sp>
        <p:nvSpPr>
          <p:cNvPr id="30" name="TextBox 29"/>
          <p:cNvSpPr txBox="1"/>
          <p:nvPr/>
        </p:nvSpPr>
        <p:spPr>
          <a:xfrm>
            <a:off x="1005840" y="5532120"/>
            <a:ext cx="2834640" cy="457200"/>
          </a:xfrm>
          <a:prstGeom prst="rect">
            <a:avLst/>
          </a:prstGeom>
          <a:noFill/>
        </p:spPr>
        <p:txBody>
          <a:bodyPr wrap="square">
            <a:spAutoFit/>
          </a:bodyPr>
          <a:lstStyle/>
          <a:p>
            <a:pPr algn="l">
              <a:lnSpc>
                <a:spcPts val="1400"/>
              </a:lnSpc>
              <a:defRPr sz="900" b="0" i="0">
                <a:solidFill>
                  <a:srgbClr val="4D4D4D"/>
                </a:solidFill>
                <a:latin typeface="Calibri"/>
              </a:defRPr>
            </a:pPr>
            <a:r>
              <a:t>Survives route changes — seamless navigation between Studio and The Room</a:t>
            </a:r>
          </a:p>
        </p:txBody>
      </p:sp>
      <p:sp>
        <p:nvSpPr>
          <p:cNvPr id="31" name="Rectangle 30"/>
          <p:cNvSpPr/>
          <p:nvPr/>
        </p:nvSpPr>
        <p:spPr>
          <a:xfrm>
            <a:off x="4389120" y="5120640"/>
            <a:ext cx="3200400" cy="914400"/>
          </a:xfrm>
          <a:prstGeom prst="rect">
            <a:avLst/>
          </a:prstGeom>
          <a:solidFill>
            <a:srgbClr val="120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0" y="5257800"/>
            <a:ext cx="2834640" cy="228600"/>
          </a:xfrm>
          <a:prstGeom prst="rect">
            <a:avLst/>
          </a:prstGeom>
          <a:noFill/>
        </p:spPr>
        <p:txBody>
          <a:bodyPr wrap="square">
            <a:spAutoFit/>
          </a:bodyPr>
          <a:lstStyle/>
          <a:p>
            <a:pPr algn="l">
              <a:defRPr sz="1000" b="1" i="0">
                <a:solidFill>
                  <a:srgbClr val="999999"/>
                </a:solidFill>
                <a:latin typeface="Calibri"/>
              </a:defRPr>
            </a:pPr>
            <a:r>
              <a:t>Client-side analysis</a:t>
            </a:r>
          </a:p>
        </p:txBody>
      </p:sp>
      <p:sp>
        <p:nvSpPr>
          <p:cNvPr id="33" name="TextBox 32"/>
          <p:cNvSpPr txBox="1"/>
          <p:nvPr/>
        </p:nvSpPr>
        <p:spPr>
          <a:xfrm>
            <a:off x="4572000" y="5532120"/>
            <a:ext cx="2834640" cy="457200"/>
          </a:xfrm>
          <a:prstGeom prst="rect">
            <a:avLst/>
          </a:prstGeom>
          <a:noFill/>
        </p:spPr>
        <p:txBody>
          <a:bodyPr wrap="square">
            <a:spAutoFit/>
          </a:bodyPr>
          <a:lstStyle/>
          <a:p>
            <a:pPr algn="l">
              <a:lnSpc>
                <a:spcPts val="1400"/>
              </a:lnSpc>
              <a:defRPr sz="900" b="0" i="0">
                <a:solidFill>
                  <a:srgbClr val="4D4D4D"/>
                </a:solidFill>
                <a:latin typeface="Calibri"/>
              </a:defRPr>
            </a:pPr>
            <a:r>
              <a:t>No audio sent to servers — TensorFlow.js runs note transcription in the browser</a:t>
            </a:r>
          </a:p>
        </p:txBody>
      </p:sp>
      <p:sp>
        <p:nvSpPr>
          <p:cNvPr id="34" name="Rectangle 33"/>
          <p:cNvSpPr/>
          <p:nvPr/>
        </p:nvSpPr>
        <p:spPr>
          <a:xfrm>
            <a:off x="7955280" y="5120640"/>
            <a:ext cx="3200400" cy="914400"/>
          </a:xfrm>
          <a:prstGeom prst="rect">
            <a:avLst/>
          </a:prstGeom>
          <a:solidFill>
            <a:srgbClr val="120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38160" y="5257800"/>
            <a:ext cx="2834640" cy="228600"/>
          </a:xfrm>
          <a:prstGeom prst="rect">
            <a:avLst/>
          </a:prstGeom>
          <a:noFill/>
        </p:spPr>
        <p:txBody>
          <a:bodyPr wrap="square">
            <a:spAutoFit/>
          </a:bodyPr>
          <a:lstStyle/>
          <a:p>
            <a:pPr algn="l">
              <a:defRPr sz="1000" b="1" i="0">
                <a:solidFill>
                  <a:srgbClr val="999999"/>
                </a:solidFill>
                <a:latin typeface="Calibri"/>
              </a:defRPr>
            </a:pPr>
            <a:r>
              <a:t>Independent journey engine</a:t>
            </a:r>
          </a:p>
        </p:txBody>
      </p:sp>
      <p:sp>
        <p:nvSpPr>
          <p:cNvPr id="36" name="TextBox 35"/>
          <p:cNvSpPr txBox="1"/>
          <p:nvPr/>
        </p:nvSpPr>
        <p:spPr>
          <a:xfrm>
            <a:off x="8138160" y="5532120"/>
            <a:ext cx="2834640" cy="457200"/>
          </a:xfrm>
          <a:prstGeom prst="rect">
            <a:avLst/>
          </a:prstGeom>
          <a:noFill/>
        </p:spPr>
        <p:txBody>
          <a:bodyPr wrap="square">
            <a:spAutoFit/>
          </a:bodyPr>
          <a:lstStyle/>
          <a:p>
            <a:pPr algn="l">
              <a:lnSpc>
                <a:spcPts val="1400"/>
              </a:lnSpc>
              <a:defRPr sz="900" b="0" i="0">
                <a:solidFill>
                  <a:srgbClr val="4D4D4D"/>
                </a:solidFill>
                <a:latin typeface="Calibri"/>
              </a:defRPr>
            </a:pPr>
            <a:r>
              <a:t>Phase transitions, shader rotation, and timing run outside React for smooth performance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612648"/>
            <a:ext cx="2743200" cy="228600"/>
          </a:xfrm>
          <a:prstGeom prst="rect">
            <a:avLst/>
          </a:prstGeom>
          <a:noFill/>
        </p:spPr>
        <p:txBody>
          <a:bodyPr wrap="square">
            <a:spAutoFit/>
          </a:bodyPr>
          <a:lstStyle/>
          <a:p>
            <a:pPr algn="l">
              <a:defRPr sz="900" b="0" i="0">
                <a:solidFill>
                  <a:srgbClr val="7C3AED"/>
                </a:solidFill>
                <a:latin typeface="Consolas"/>
              </a:defRPr>
            </a:pPr>
            <a:r>
              <a:t>ROADMAP</a:t>
            </a:r>
          </a:p>
        </p:txBody>
      </p:sp>
      <p:sp>
        <p:nvSpPr>
          <p:cNvPr id="3" name="TextBox 2"/>
          <p:cNvSpPr txBox="1"/>
          <p:nvPr/>
        </p:nvSpPr>
        <p:spPr>
          <a:xfrm>
            <a:off x="822960" y="868680"/>
            <a:ext cx="9144000" cy="640080"/>
          </a:xfrm>
          <a:prstGeom prst="rect">
            <a:avLst/>
          </a:prstGeom>
          <a:noFill/>
        </p:spPr>
        <p:txBody>
          <a:bodyPr wrap="square">
            <a:spAutoFit/>
          </a:bodyPr>
          <a:lstStyle/>
          <a:p>
            <a:pPr algn="l">
              <a:defRPr sz="4200" b="1" i="0">
                <a:solidFill>
                  <a:srgbClr val="FFFFFF"/>
                </a:solidFill>
                <a:latin typeface="Calibri"/>
              </a:defRPr>
            </a:pPr>
            <a:r>
              <a:t>Where we're going.</a:t>
            </a:r>
          </a:p>
        </p:txBody>
      </p:sp>
      <p:sp>
        <p:nvSpPr>
          <p:cNvPr id="4" name="TextBox 3"/>
          <p:cNvSpPr txBox="1"/>
          <p:nvPr/>
        </p:nvSpPr>
        <p:spPr>
          <a:xfrm>
            <a:off x="822960" y="1828800"/>
            <a:ext cx="1371600" cy="182880"/>
          </a:xfrm>
          <a:prstGeom prst="rect">
            <a:avLst/>
          </a:prstGeom>
          <a:noFill/>
        </p:spPr>
        <p:txBody>
          <a:bodyPr wrap="square">
            <a:spAutoFit/>
          </a:bodyPr>
          <a:lstStyle/>
          <a:p>
            <a:pPr algn="l">
              <a:defRPr sz="900" b="0" i="0">
                <a:solidFill>
                  <a:srgbClr val="7C3AED"/>
                </a:solidFill>
                <a:latin typeface="Consolas"/>
              </a:defRPr>
            </a:pPr>
            <a:r>
              <a:t>Q1 2026</a:t>
            </a:r>
          </a:p>
        </p:txBody>
      </p:sp>
      <p:sp>
        <p:nvSpPr>
          <p:cNvPr id="5" name="TextBox 4"/>
          <p:cNvSpPr txBox="1"/>
          <p:nvPr/>
        </p:nvSpPr>
        <p:spPr>
          <a:xfrm>
            <a:off x="2286000" y="1828800"/>
            <a:ext cx="914400" cy="182880"/>
          </a:xfrm>
          <a:prstGeom prst="rect">
            <a:avLst/>
          </a:prstGeom>
          <a:noFill/>
        </p:spPr>
        <p:txBody>
          <a:bodyPr wrap="square">
            <a:spAutoFit/>
          </a:bodyPr>
          <a:lstStyle/>
          <a:p>
            <a:pPr algn="l">
              <a:defRPr sz="900" b="0" i="0">
                <a:solidFill>
                  <a:srgbClr val="404040"/>
                </a:solidFill>
                <a:latin typeface="Calibri"/>
              </a:defRPr>
            </a:pPr>
            <a:r>
              <a:t>SHIPPED</a:t>
            </a:r>
          </a:p>
        </p:txBody>
      </p:sp>
      <p:sp>
        <p:nvSpPr>
          <p:cNvPr id="6" name="TextBox 5"/>
          <p:cNvSpPr txBox="1"/>
          <p:nvPr/>
        </p:nvSpPr>
        <p:spPr>
          <a:xfrm>
            <a:off x="822960" y="2148840"/>
            <a:ext cx="4572000" cy="274320"/>
          </a:xfrm>
          <a:prstGeom prst="rect">
            <a:avLst/>
          </a:prstGeom>
          <a:noFill/>
        </p:spPr>
        <p:txBody>
          <a:bodyPr wrap="square">
            <a:spAutoFit/>
          </a:bodyPr>
          <a:lstStyle/>
          <a:p>
            <a:pPr algn="l">
              <a:defRPr sz="1400" b="1" i="0">
                <a:solidFill>
                  <a:srgbClr val="FFFFFF"/>
                </a:solidFill>
                <a:latin typeface="Calibri"/>
              </a:defRPr>
            </a:pPr>
            <a:r>
              <a:t>Foundation + The Room</a:t>
            </a:r>
          </a:p>
        </p:txBody>
      </p:sp>
      <p:sp>
        <p:nvSpPr>
          <p:cNvPr id="7" name="TextBox 6"/>
          <p:cNvSpPr txBox="1"/>
          <p:nvPr/>
        </p:nvSpPr>
        <p:spPr>
          <a:xfrm>
            <a:off x="822960" y="2514600"/>
            <a:ext cx="4572000" cy="228600"/>
          </a:xfrm>
          <a:prstGeom prst="rect">
            <a:avLst/>
          </a:prstGeom>
          <a:noFill/>
        </p:spPr>
        <p:txBody>
          <a:bodyPr wrap="square">
            <a:spAutoFit/>
          </a:bodyPr>
          <a:lstStyle/>
          <a:p>
            <a:pPr algn="l">
              <a:lnSpc>
                <a:spcPts val="1500"/>
              </a:lnSpc>
              <a:defRPr sz="1000" b="0" i="0">
                <a:solidFill>
                  <a:srgbClr val="595959"/>
                </a:solidFill>
                <a:latin typeface="Calibri"/>
              </a:defRPr>
            </a:pPr>
            <a:r>
              <a:t>Full analysis pipeline (key, chords, tempo, MIDI)</a:t>
            </a:r>
          </a:p>
        </p:txBody>
      </p:sp>
      <p:sp>
        <p:nvSpPr>
          <p:cNvPr id="8" name="TextBox 7"/>
          <p:cNvSpPr txBox="1"/>
          <p:nvPr/>
        </p:nvSpPr>
        <p:spPr>
          <a:xfrm>
            <a:off x="822960" y="2770632"/>
            <a:ext cx="4572000" cy="228600"/>
          </a:xfrm>
          <a:prstGeom prst="rect">
            <a:avLst/>
          </a:prstGeom>
          <a:noFill/>
        </p:spPr>
        <p:txBody>
          <a:bodyPr wrap="square">
            <a:spAutoFit/>
          </a:bodyPr>
          <a:lstStyle/>
          <a:p>
            <a:pPr algn="l">
              <a:lnSpc>
                <a:spcPts val="1500"/>
              </a:lnSpc>
              <a:defRPr sz="1000" b="0" i="0">
                <a:solidFill>
                  <a:srgbClr val="595959"/>
                </a:solidFill>
                <a:latin typeface="Calibri"/>
              </a:defRPr>
            </a:pPr>
            <a:r>
              <a:t>AI teaching summaries and chat</a:t>
            </a:r>
          </a:p>
        </p:txBody>
      </p:sp>
      <p:sp>
        <p:nvSpPr>
          <p:cNvPr id="9" name="TextBox 8"/>
          <p:cNvSpPr txBox="1"/>
          <p:nvPr/>
        </p:nvSpPr>
        <p:spPr>
          <a:xfrm>
            <a:off x="822960" y="3026664"/>
            <a:ext cx="4572000" cy="228600"/>
          </a:xfrm>
          <a:prstGeom prst="rect">
            <a:avLst/>
          </a:prstGeom>
          <a:noFill/>
        </p:spPr>
        <p:txBody>
          <a:bodyPr wrap="square">
            <a:spAutoFit/>
          </a:bodyPr>
          <a:lstStyle/>
          <a:p>
            <a:pPr algn="l">
              <a:lnSpc>
                <a:spcPts val="1500"/>
              </a:lnSpc>
              <a:defRPr sz="1000" b="0" i="0">
                <a:solidFill>
                  <a:srgbClr val="595959"/>
                </a:solidFill>
                <a:latin typeface="Calibri"/>
              </a:defRPr>
            </a:pPr>
            <a:r>
              <a:t>200+ shaders, 240+ journeys, 16 realms</a:t>
            </a:r>
          </a:p>
        </p:txBody>
      </p:sp>
      <p:sp>
        <p:nvSpPr>
          <p:cNvPr id="10" name="TextBox 9"/>
          <p:cNvSpPr txBox="1"/>
          <p:nvPr/>
        </p:nvSpPr>
        <p:spPr>
          <a:xfrm>
            <a:off x="822960" y="3282696"/>
            <a:ext cx="4572000" cy="228600"/>
          </a:xfrm>
          <a:prstGeom prst="rect">
            <a:avLst/>
          </a:prstGeom>
          <a:noFill/>
        </p:spPr>
        <p:txBody>
          <a:bodyPr wrap="square">
            <a:spAutoFit/>
          </a:bodyPr>
          <a:lstStyle/>
          <a:p>
            <a:pPr algn="l">
              <a:lnSpc>
                <a:spcPts val="1500"/>
              </a:lnSpc>
              <a:defRPr sz="1000" b="0" i="0">
                <a:solidFill>
                  <a:srgbClr val="595959"/>
                </a:solidFill>
                <a:latin typeface="Calibri"/>
              </a:defRPr>
            </a:pPr>
            <a:r>
              <a:t>Poetry, voice, story overlays</a:t>
            </a:r>
          </a:p>
        </p:txBody>
      </p:sp>
      <p:sp>
        <p:nvSpPr>
          <p:cNvPr id="11" name="TextBox 10"/>
          <p:cNvSpPr txBox="1"/>
          <p:nvPr/>
        </p:nvSpPr>
        <p:spPr>
          <a:xfrm>
            <a:off x="822960" y="3538728"/>
            <a:ext cx="4572000" cy="228600"/>
          </a:xfrm>
          <a:prstGeom prst="rect">
            <a:avLst/>
          </a:prstGeom>
          <a:noFill/>
        </p:spPr>
        <p:txBody>
          <a:bodyPr wrap="square">
            <a:spAutoFit/>
          </a:bodyPr>
          <a:lstStyle/>
          <a:p>
            <a:pPr algn="l">
              <a:lnSpc>
                <a:spcPts val="1500"/>
              </a:lnSpc>
              <a:defRPr sz="1000" b="0" i="0">
                <a:solidFill>
                  <a:srgbClr val="595959"/>
                </a:solidFill>
                <a:latin typeface="Calibri"/>
              </a:defRPr>
            </a:pPr>
            <a:r>
              <a:t>Installation mode, public sharing</a:t>
            </a:r>
          </a:p>
        </p:txBody>
      </p:sp>
      <p:sp>
        <p:nvSpPr>
          <p:cNvPr id="12" name="TextBox 11"/>
          <p:cNvSpPr txBox="1"/>
          <p:nvPr/>
        </p:nvSpPr>
        <p:spPr>
          <a:xfrm>
            <a:off x="6309360" y="1828800"/>
            <a:ext cx="1371600" cy="182880"/>
          </a:xfrm>
          <a:prstGeom prst="rect">
            <a:avLst/>
          </a:prstGeom>
          <a:noFill/>
        </p:spPr>
        <p:txBody>
          <a:bodyPr wrap="square">
            <a:spAutoFit/>
          </a:bodyPr>
          <a:lstStyle/>
          <a:p>
            <a:pPr algn="l">
              <a:defRPr sz="900" b="0" i="0">
                <a:solidFill>
                  <a:srgbClr val="A778F2"/>
                </a:solidFill>
                <a:latin typeface="Consolas"/>
              </a:defRPr>
            </a:pPr>
            <a:r>
              <a:t>Q2 2026</a:t>
            </a:r>
          </a:p>
        </p:txBody>
      </p:sp>
      <p:sp>
        <p:nvSpPr>
          <p:cNvPr id="13" name="TextBox 12"/>
          <p:cNvSpPr txBox="1"/>
          <p:nvPr/>
        </p:nvSpPr>
        <p:spPr>
          <a:xfrm>
            <a:off x="7772400" y="1828800"/>
            <a:ext cx="914400" cy="182880"/>
          </a:xfrm>
          <a:prstGeom prst="rect">
            <a:avLst/>
          </a:prstGeom>
          <a:noFill/>
        </p:spPr>
        <p:txBody>
          <a:bodyPr wrap="square">
            <a:spAutoFit/>
          </a:bodyPr>
          <a:lstStyle/>
          <a:p>
            <a:pPr algn="l">
              <a:defRPr sz="900" b="0" i="0">
                <a:solidFill>
                  <a:srgbClr val="404040"/>
                </a:solidFill>
                <a:latin typeface="Calibri"/>
              </a:defRPr>
            </a:pPr>
            <a:r>
              <a:t>NEXT</a:t>
            </a:r>
          </a:p>
        </p:txBody>
      </p:sp>
      <p:sp>
        <p:nvSpPr>
          <p:cNvPr id="14" name="TextBox 13"/>
          <p:cNvSpPr txBox="1"/>
          <p:nvPr/>
        </p:nvSpPr>
        <p:spPr>
          <a:xfrm>
            <a:off x="6309360" y="2148840"/>
            <a:ext cx="4572000" cy="274320"/>
          </a:xfrm>
          <a:prstGeom prst="rect">
            <a:avLst/>
          </a:prstGeom>
          <a:noFill/>
        </p:spPr>
        <p:txBody>
          <a:bodyPr wrap="square">
            <a:spAutoFit/>
          </a:bodyPr>
          <a:lstStyle/>
          <a:p>
            <a:pPr algn="l">
              <a:defRPr sz="1400" b="1" i="0">
                <a:solidFill>
                  <a:srgbClr val="BFBFBF"/>
                </a:solidFill>
                <a:latin typeface="Calibri"/>
              </a:defRPr>
            </a:pPr>
            <a:r>
              <a:t>Intelligence &amp; Generation</a:t>
            </a:r>
          </a:p>
        </p:txBody>
      </p:sp>
      <p:sp>
        <p:nvSpPr>
          <p:cNvPr id="15" name="TextBox 14"/>
          <p:cNvSpPr txBox="1"/>
          <p:nvPr/>
        </p:nvSpPr>
        <p:spPr>
          <a:xfrm>
            <a:off x="6309360" y="2514600"/>
            <a:ext cx="4572000" cy="228600"/>
          </a:xfrm>
          <a:prstGeom prst="rect">
            <a:avLst/>
          </a:prstGeom>
          <a:noFill/>
        </p:spPr>
        <p:txBody>
          <a:bodyPr wrap="square">
            <a:spAutoFit/>
          </a:bodyPr>
          <a:lstStyle/>
          <a:p>
            <a:pPr algn="l">
              <a:lnSpc>
                <a:spcPts val="1500"/>
              </a:lnSpc>
              <a:defRPr sz="1000" b="0" i="0">
                <a:solidFill>
                  <a:srgbClr val="4D4D4D"/>
                </a:solidFill>
                <a:latin typeface="Calibri"/>
              </a:defRPr>
            </a:pPr>
            <a:r>
              <a:t>AI journey auto-generation from analysis</a:t>
            </a:r>
          </a:p>
        </p:txBody>
      </p:sp>
      <p:sp>
        <p:nvSpPr>
          <p:cNvPr id="16" name="TextBox 15"/>
          <p:cNvSpPr txBox="1"/>
          <p:nvPr/>
        </p:nvSpPr>
        <p:spPr>
          <a:xfrm>
            <a:off x="6309360" y="2770632"/>
            <a:ext cx="4572000" cy="228600"/>
          </a:xfrm>
          <a:prstGeom prst="rect">
            <a:avLst/>
          </a:prstGeom>
          <a:noFill/>
        </p:spPr>
        <p:txBody>
          <a:bodyPr wrap="square">
            <a:spAutoFit/>
          </a:bodyPr>
          <a:lstStyle/>
          <a:p>
            <a:pPr algn="l">
              <a:lnSpc>
                <a:spcPts val="1500"/>
              </a:lnSpc>
              <a:defRPr sz="1000" b="0" i="0">
                <a:solidFill>
                  <a:srgbClr val="4D4D4D"/>
                </a:solidFill>
                <a:latin typeface="Calibri"/>
              </a:defRPr>
            </a:pPr>
            <a:r>
              <a:t>Real-time AI imagery during journeys</a:t>
            </a:r>
          </a:p>
        </p:txBody>
      </p:sp>
      <p:sp>
        <p:nvSpPr>
          <p:cNvPr id="17" name="TextBox 16"/>
          <p:cNvSpPr txBox="1"/>
          <p:nvPr/>
        </p:nvSpPr>
        <p:spPr>
          <a:xfrm>
            <a:off x="6309360" y="3026664"/>
            <a:ext cx="4572000" cy="228600"/>
          </a:xfrm>
          <a:prstGeom prst="rect">
            <a:avLst/>
          </a:prstGeom>
          <a:noFill/>
        </p:spPr>
        <p:txBody>
          <a:bodyPr wrap="square">
            <a:spAutoFit/>
          </a:bodyPr>
          <a:lstStyle/>
          <a:p>
            <a:pPr algn="l">
              <a:lnSpc>
                <a:spcPts val="1500"/>
              </a:lnSpc>
              <a:defRPr sz="1000" b="0" i="0">
                <a:solidFill>
                  <a:srgbClr val="4D4D4D"/>
                </a:solidFill>
                <a:latin typeface="Calibri"/>
              </a:defRPr>
            </a:pPr>
            <a:r>
              <a:t>In-browser recording</a:t>
            </a:r>
          </a:p>
        </p:txBody>
      </p:sp>
      <p:sp>
        <p:nvSpPr>
          <p:cNvPr id="18" name="TextBox 17"/>
          <p:cNvSpPr txBox="1"/>
          <p:nvPr/>
        </p:nvSpPr>
        <p:spPr>
          <a:xfrm>
            <a:off x="6309360" y="3282696"/>
            <a:ext cx="4572000" cy="228600"/>
          </a:xfrm>
          <a:prstGeom prst="rect">
            <a:avLst/>
          </a:prstGeom>
          <a:noFill/>
        </p:spPr>
        <p:txBody>
          <a:bodyPr wrap="square">
            <a:spAutoFit/>
          </a:bodyPr>
          <a:lstStyle/>
          <a:p>
            <a:pPr algn="l">
              <a:lnSpc>
                <a:spcPts val="1500"/>
              </a:lnSpc>
              <a:defRPr sz="1000" b="0" i="0">
                <a:solidFill>
                  <a:srgbClr val="4D4D4D"/>
                </a:solidFill>
                <a:latin typeface="Calibri"/>
              </a:defRPr>
            </a:pPr>
            <a:r>
              <a:t>Harmonic search</a:t>
            </a:r>
          </a:p>
        </p:txBody>
      </p:sp>
      <p:sp>
        <p:nvSpPr>
          <p:cNvPr id="19" name="TextBox 18"/>
          <p:cNvSpPr txBox="1"/>
          <p:nvPr/>
        </p:nvSpPr>
        <p:spPr>
          <a:xfrm>
            <a:off x="6309360" y="3538728"/>
            <a:ext cx="4572000" cy="228600"/>
          </a:xfrm>
          <a:prstGeom prst="rect">
            <a:avLst/>
          </a:prstGeom>
          <a:noFill/>
        </p:spPr>
        <p:txBody>
          <a:bodyPr wrap="square">
            <a:spAutoFit/>
          </a:bodyPr>
          <a:lstStyle/>
          <a:p>
            <a:pPr algn="l">
              <a:lnSpc>
                <a:spcPts val="1500"/>
              </a:lnSpc>
              <a:defRPr sz="1000" b="0" i="0">
                <a:solidFill>
                  <a:srgbClr val="4D4D4D"/>
                </a:solidFill>
                <a:latin typeface="Calibri"/>
              </a:defRPr>
            </a:pPr>
            <a:r>
              <a:t>Practice mode with looping + metronome</a:t>
            </a:r>
          </a:p>
        </p:txBody>
      </p:sp>
      <p:sp>
        <p:nvSpPr>
          <p:cNvPr id="20" name="TextBox 19"/>
          <p:cNvSpPr txBox="1"/>
          <p:nvPr/>
        </p:nvSpPr>
        <p:spPr>
          <a:xfrm>
            <a:off x="822960" y="4114800"/>
            <a:ext cx="1371600" cy="182880"/>
          </a:xfrm>
          <a:prstGeom prst="rect">
            <a:avLst/>
          </a:prstGeom>
          <a:noFill/>
        </p:spPr>
        <p:txBody>
          <a:bodyPr wrap="square">
            <a:spAutoFit/>
          </a:bodyPr>
          <a:lstStyle/>
          <a:p>
            <a:pPr algn="l">
              <a:defRPr sz="900" b="0" i="0">
                <a:solidFill>
                  <a:srgbClr val="735EDE"/>
                </a:solidFill>
                <a:latin typeface="Consolas"/>
              </a:defRPr>
            </a:pPr>
            <a:r>
              <a:t>Q3–Q4 2026</a:t>
            </a:r>
          </a:p>
        </p:txBody>
      </p:sp>
      <p:sp>
        <p:nvSpPr>
          <p:cNvPr id="21" name="TextBox 20"/>
          <p:cNvSpPr txBox="1"/>
          <p:nvPr/>
        </p:nvSpPr>
        <p:spPr>
          <a:xfrm>
            <a:off x="2286000" y="4114800"/>
            <a:ext cx="914400" cy="182880"/>
          </a:xfrm>
          <a:prstGeom prst="rect">
            <a:avLst/>
          </a:prstGeom>
          <a:noFill/>
        </p:spPr>
        <p:txBody>
          <a:bodyPr wrap="square">
            <a:spAutoFit/>
          </a:bodyPr>
          <a:lstStyle/>
          <a:p>
            <a:pPr algn="l">
              <a:defRPr sz="900" b="0" i="0">
                <a:solidFill>
                  <a:srgbClr val="404040"/>
                </a:solidFill>
                <a:latin typeface="Calibri"/>
              </a:defRPr>
            </a:pPr>
            <a:r>
              <a:t>LATER</a:t>
            </a:r>
          </a:p>
        </p:txBody>
      </p:sp>
      <p:sp>
        <p:nvSpPr>
          <p:cNvPr id="22" name="TextBox 21"/>
          <p:cNvSpPr txBox="1"/>
          <p:nvPr/>
        </p:nvSpPr>
        <p:spPr>
          <a:xfrm>
            <a:off x="822960" y="4434840"/>
            <a:ext cx="4572000" cy="274320"/>
          </a:xfrm>
          <a:prstGeom prst="rect">
            <a:avLst/>
          </a:prstGeom>
          <a:noFill/>
        </p:spPr>
        <p:txBody>
          <a:bodyPr wrap="square">
            <a:spAutoFit/>
          </a:bodyPr>
          <a:lstStyle/>
          <a:p>
            <a:pPr algn="l">
              <a:defRPr sz="1400" b="1" i="0">
                <a:solidFill>
                  <a:srgbClr val="808080"/>
                </a:solidFill>
                <a:latin typeface="Calibri"/>
              </a:defRPr>
            </a:pPr>
            <a:r>
              <a:t>Platform &amp; Social</a:t>
            </a:r>
          </a:p>
        </p:txBody>
      </p:sp>
      <p:sp>
        <p:nvSpPr>
          <p:cNvPr id="23" name="TextBox 22"/>
          <p:cNvSpPr txBox="1"/>
          <p:nvPr/>
        </p:nvSpPr>
        <p:spPr>
          <a:xfrm>
            <a:off x="822960" y="4800600"/>
            <a:ext cx="4572000" cy="228600"/>
          </a:xfrm>
          <a:prstGeom prst="rect">
            <a:avLst/>
          </a:prstGeom>
          <a:noFill/>
        </p:spPr>
        <p:txBody>
          <a:bodyPr wrap="square">
            <a:spAutoFit/>
          </a:bodyPr>
          <a:lstStyle/>
          <a:p>
            <a:pPr algn="l">
              <a:lnSpc>
                <a:spcPts val="1500"/>
              </a:lnSpc>
              <a:defRPr sz="1000" b="0" i="0">
                <a:solidFill>
                  <a:srgbClr val="404040"/>
                </a:solidFill>
                <a:latin typeface="Calibri"/>
              </a:defRPr>
            </a:pPr>
            <a:r>
              <a:t>Public profiles and journey discovery</a:t>
            </a:r>
          </a:p>
        </p:txBody>
      </p:sp>
      <p:sp>
        <p:nvSpPr>
          <p:cNvPr id="24" name="TextBox 23"/>
          <p:cNvSpPr txBox="1"/>
          <p:nvPr/>
        </p:nvSpPr>
        <p:spPr>
          <a:xfrm>
            <a:off x="822960" y="5056632"/>
            <a:ext cx="4572000" cy="228600"/>
          </a:xfrm>
          <a:prstGeom prst="rect">
            <a:avLst/>
          </a:prstGeom>
          <a:noFill/>
        </p:spPr>
        <p:txBody>
          <a:bodyPr wrap="square">
            <a:spAutoFit/>
          </a:bodyPr>
          <a:lstStyle/>
          <a:p>
            <a:pPr algn="l">
              <a:lnSpc>
                <a:spcPts val="1500"/>
              </a:lnSpc>
              <a:defRPr sz="1000" b="0" i="0">
                <a:solidFill>
                  <a:srgbClr val="404040"/>
                </a:solidFill>
                <a:latin typeface="Calibri"/>
              </a:defRPr>
            </a:pPr>
            <a:r>
              <a:t>Collaborative listening sessions</a:t>
            </a:r>
          </a:p>
        </p:txBody>
      </p:sp>
      <p:sp>
        <p:nvSpPr>
          <p:cNvPr id="25" name="TextBox 24"/>
          <p:cNvSpPr txBox="1"/>
          <p:nvPr/>
        </p:nvSpPr>
        <p:spPr>
          <a:xfrm>
            <a:off x="822960" y="5312664"/>
            <a:ext cx="4572000" cy="228600"/>
          </a:xfrm>
          <a:prstGeom prst="rect">
            <a:avLst/>
          </a:prstGeom>
          <a:noFill/>
        </p:spPr>
        <p:txBody>
          <a:bodyPr wrap="square">
            <a:spAutoFit/>
          </a:bodyPr>
          <a:lstStyle/>
          <a:p>
            <a:pPr algn="l">
              <a:lnSpc>
                <a:spcPts val="1500"/>
              </a:lnSpc>
              <a:defRPr sz="1000" b="0" i="0">
                <a:solidFill>
                  <a:srgbClr val="404040"/>
                </a:solidFill>
                <a:latin typeface="Calibri"/>
              </a:defRPr>
            </a:pPr>
            <a:r>
              <a:t>Multi-instrument support</a:t>
            </a:r>
          </a:p>
        </p:txBody>
      </p:sp>
      <p:sp>
        <p:nvSpPr>
          <p:cNvPr id="26" name="TextBox 25"/>
          <p:cNvSpPr txBox="1"/>
          <p:nvPr/>
        </p:nvSpPr>
        <p:spPr>
          <a:xfrm>
            <a:off x="822960" y="5568696"/>
            <a:ext cx="4572000" cy="228600"/>
          </a:xfrm>
          <a:prstGeom prst="rect">
            <a:avLst/>
          </a:prstGeom>
          <a:noFill/>
        </p:spPr>
        <p:txBody>
          <a:bodyPr wrap="square">
            <a:spAutoFit/>
          </a:bodyPr>
          <a:lstStyle/>
          <a:p>
            <a:pPr algn="l">
              <a:lnSpc>
                <a:spcPts val="1500"/>
              </a:lnSpc>
              <a:defRPr sz="1000" b="0" i="0">
                <a:solidFill>
                  <a:srgbClr val="404040"/>
                </a:solidFill>
                <a:latin typeface="Calibri"/>
              </a:defRPr>
            </a:pPr>
            <a:r>
              <a:t>Version tracking for ideas</a:t>
            </a:r>
          </a:p>
        </p:txBody>
      </p:sp>
      <p:sp>
        <p:nvSpPr>
          <p:cNvPr id="27" name="TextBox 26"/>
          <p:cNvSpPr txBox="1"/>
          <p:nvPr/>
        </p:nvSpPr>
        <p:spPr>
          <a:xfrm>
            <a:off x="822960" y="5824728"/>
            <a:ext cx="4572000" cy="228600"/>
          </a:xfrm>
          <a:prstGeom prst="rect">
            <a:avLst/>
          </a:prstGeom>
          <a:noFill/>
        </p:spPr>
        <p:txBody>
          <a:bodyPr wrap="square">
            <a:spAutoFit/>
          </a:bodyPr>
          <a:lstStyle/>
          <a:p>
            <a:pPr algn="l">
              <a:lnSpc>
                <a:spcPts val="1500"/>
              </a:lnSpc>
              <a:defRPr sz="1000" b="0" i="0">
                <a:solidFill>
                  <a:srgbClr val="404040"/>
                </a:solidFill>
                <a:latin typeface="Calibri"/>
              </a:defRPr>
            </a:pPr>
            <a:r>
              <a:t>Mobile app (PWA)</a:t>
            </a:r>
          </a:p>
        </p:txBody>
      </p:sp>
      <p:sp>
        <p:nvSpPr>
          <p:cNvPr id="28" name="TextBox 27"/>
          <p:cNvSpPr txBox="1"/>
          <p:nvPr/>
        </p:nvSpPr>
        <p:spPr>
          <a:xfrm>
            <a:off x="6309360" y="4114800"/>
            <a:ext cx="1371600" cy="182880"/>
          </a:xfrm>
          <a:prstGeom prst="rect">
            <a:avLst/>
          </a:prstGeom>
          <a:noFill/>
        </p:spPr>
        <p:txBody>
          <a:bodyPr wrap="square">
            <a:spAutoFit/>
          </a:bodyPr>
          <a:lstStyle/>
          <a:p>
            <a:pPr algn="l">
              <a:defRPr sz="900" b="0" i="0">
                <a:solidFill>
                  <a:srgbClr val="5247C8"/>
                </a:solidFill>
                <a:latin typeface="Consolas"/>
              </a:defRPr>
            </a:pPr>
            <a:r>
              <a:t>2027+</a:t>
            </a:r>
          </a:p>
        </p:txBody>
      </p:sp>
      <p:sp>
        <p:nvSpPr>
          <p:cNvPr id="29" name="TextBox 28"/>
          <p:cNvSpPr txBox="1"/>
          <p:nvPr/>
        </p:nvSpPr>
        <p:spPr>
          <a:xfrm>
            <a:off x="7772400" y="4114800"/>
            <a:ext cx="914400" cy="182880"/>
          </a:xfrm>
          <a:prstGeom prst="rect">
            <a:avLst/>
          </a:prstGeom>
          <a:noFill/>
        </p:spPr>
        <p:txBody>
          <a:bodyPr wrap="square">
            <a:spAutoFit/>
          </a:bodyPr>
          <a:lstStyle/>
          <a:p>
            <a:pPr algn="l">
              <a:defRPr sz="900" b="0" i="0">
                <a:solidFill>
                  <a:srgbClr val="404040"/>
                </a:solidFill>
                <a:latin typeface="Calibri"/>
              </a:defRPr>
            </a:pPr>
            <a:r>
              <a:t>FUTURE</a:t>
            </a:r>
          </a:p>
        </p:txBody>
      </p:sp>
      <p:sp>
        <p:nvSpPr>
          <p:cNvPr id="30" name="TextBox 29"/>
          <p:cNvSpPr txBox="1"/>
          <p:nvPr/>
        </p:nvSpPr>
        <p:spPr>
          <a:xfrm>
            <a:off x="6309360" y="4434840"/>
            <a:ext cx="4572000" cy="274320"/>
          </a:xfrm>
          <a:prstGeom prst="rect">
            <a:avLst/>
          </a:prstGeom>
          <a:noFill/>
        </p:spPr>
        <p:txBody>
          <a:bodyPr wrap="square">
            <a:spAutoFit/>
          </a:bodyPr>
          <a:lstStyle/>
          <a:p>
            <a:pPr algn="l">
              <a:defRPr sz="1400" b="1" i="0">
                <a:solidFill>
                  <a:srgbClr val="666666"/>
                </a:solidFill>
                <a:latin typeface="Calibri"/>
              </a:defRPr>
            </a:pPr>
            <a:r>
              <a:t>Ecosystem</a:t>
            </a:r>
          </a:p>
        </p:txBody>
      </p:sp>
      <p:sp>
        <p:nvSpPr>
          <p:cNvPr id="31" name="TextBox 30"/>
          <p:cNvSpPr txBox="1"/>
          <p:nvPr/>
        </p:nvSpPr>
        <p:spPr>
          <a:xfrm>
            <a:off x="6309360" y="4800600"/>
            <a:ext cx="4572000" cy="228600"/>
          </a:xfrm>
          <a:prstGeom prst="rect">
            <a:avLst/>
          </a:prstGeom>
          <a:noFill/>
        </p:spPr>
        <p:txBody>
          <a:bodyPr wrap="square">
            <a:spAutoFit/>
          </a:bodyPr>
          <a:lstStyle/>
          <a:p>
            <a:pPr algn="l">
              <a:lnSpc>
                <a:spcPts val="1500"/>
              </a:lnSpc>
              <a:defRPr sz="1000" b="0" i="0">
                <a:solidFill>
                  <a:srgbClr val="383838"/>
                </a:solidFill>
                <a:latin typeface="Calibri"/>
              </a:defRPr>
            </a:pPr>
            <a:r>
              <a:t>Live transcription as you play</a:t>
            </a:r>
          </a:p>
        </p:txBody>
      </p:sp>
      <p:sp>
        <p:nvSpPr>
          <p:cNvPr id="32" name="TextBox 31"/>
          <p:cNvSpPr txBox="1"/>
          <p:nvPr/>
        </p:nvSpPr>
        <p:spPr>
          <a:xfrm>
            <a:off x="6309360" y="5056632"/>
            <a:ext cx="4572000" cy="228600"/>
          </a:xfrm>
          <a:prstGeom prst="rect">
            <a:avLst/>
          </a:prstGeom>
          <a:noFill/>
        </p:spPr>
        <p:txBody>
          <a:bodyPr wrap="square">
            <a:spAutoFit/>
          </a:bodyPr>
          <a:lstStyle/>
          <a:p>
            <a:pPr algn="l">
              <a:lnSpc>
                <a:spcPts val="1500"/>
              </a:lnSpc>
              <a:defRPr sz="1000" b="0" i="0">
                <a:solidFill>
                  <a:srgbClr val="383838"/>
                </a:solidFill>
                <a:latin typeface="Calibri"/>
              </a:defRPr>
            </a:pPr>
            <a:r>
              <a:t>AI arrangement and song builder</a:t>
            </a:r>
          </a:p>
        </p:txBody>
      </p:sp>
      <p:sp>
        <p:nvSpPr>
          <p:cNvPr id="33" name="TextBox 32"/>
          <p:cNvSpPr txBox="1"/>
          <p:nvPr/>
        </p:nvSpPr>
        <p:spPr>
          <a:xfrm>
            <a:off x="6309360" y="5312664"/>
            <a:ext cx="4572000" cy="228600"/>
          </a:xfrm>
          <a:prstGeom prst="rect">
            <a:avLst/>
          </a:prstGeom>
          <a:noFill/>
        </p:spPr>
        <p:txBody>
          <a:bodyPr wrap="square">
            <a:spAutoFit/>
          </a:bodyPr>
          <a:lstStyle/>
          <a:p>
            <a:pPr algn="l">
              <a:lnSpc>
                <a:spcPts val="1500"/>
              </a:lnSpc>
              <a:defRPr sz="1000" b="0" i="0">
                <a:solidFill>
                  <a:srgbClr val="383838"/>
                </a:solidFill>
                <a:latin typeface="Calibri"/>
              </a:defRPr>
            </a:pPr>
            <a:r>
              <a:t>Style DNA matching</a:t>
            </a:r>
          </a:p>
        </p:txBody>
      </p:sp>
      <p:sp>
        <p:nvSpPr>
          <p:cNvPr id="34" name="TextBox 33"/>
          <p:cNvSpPr txBox="1"/>
          <p:nvPr/>
        </p:nvSpPr>
        <p:spPr>
          <a:xfrm>
            <a:off x="6309360" y="5568696"/>
            <a:ext cx="4572000" cy="228600"/>
          </a:xfrm>
          <a:prstGeom prst="rect">
            <a:avLst/>
          </a:prstGeom>
          <a:noFill/>
        </p:spPr>
        <p:txBody>
          <a:bodyPr wrap="square">
            <a:spAutoFit/>
          </a:bodyPr>
          <a:lstStyle/>
          <a:p>
            <a:pPr algn="l">
              <a:lnSpc>
                <a:spcPts val="1500"/>
              </a:lnSpc>
              <a:defRPr sz="1000" b="0" i="0">
                <a:solidFill>
                  <a:srgbClr val="383838"/>
                </a:solidFill>
                <a:latin typeface="Calibri"/>
              </a:defRPr>
            </a:pPr>
            <a:r>
              <a:t>Education platform</a:t>
            </a:r>
          </a:p>
        </p:txBody>
      </p:sp>
      <p:sp>
        <p:nvSpPr>
          <p:cNvPr id="35" name="TextBox 34"/>
          <p:cNvSpPr txBox="1"/>
          <p:nvPr/>
        </p:nvSpPr>
        <p:spPr>
          <a:xfrm>
            <a:off x="6309360" y="5824728"/>
            <a:ext cx="4572000" cy="228600"/>
          </a:xfrm>
          <a:prstGeom prst="rect">
            <a:avLst/>
          </a:prstGeom>
          <a:noFill/>
        </p:spPr>
        <p:txBody>
          <a:bodyPr wrap="square">
            <a:spAutoFit/>
          </a:bodyPr>
          <a:lstStyle/>
          <a:p>
            <a:pPr algn="l">
              <a:lnSpc>
                <a:spcPts val="1500"/>
              </a:lnSpc>
              <a:defRPr sz="1000" b="0" i="0">
                <a:solidFill>
                  <a:srgbClr val="383838"/>
                </a:solidFill>
                <a:latin typeface="Calibri"/>
              </a:defRPr>
            </a:pPr>
            <a:r>
              <a:t>DAW export, developer API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612648"/>
            <a:ext cx="2743200" cy="228600"/>
          </a:xfrm>
          <a:prstGeom prst="rect">
            <a:avLst/>
          </a:prstGeom>
          <a:noFill/>
        </p:spPr>
        <p:txBody>
          <a:bodyPr wrap="square">
            <a:spAutoFit/>
          </a:bodyPr>
          <a:lstStyle/>
          <a:p>
            <a:pPr algn="l">
              <a:defRPr sz="900" b="0" i="0">
                <a:solidFill>
                  <a:srgbClr val="7C3AED"/>
                </a:solidFill>
                <a:latin typeface="Consolas"/>
              </a:defRPr>
            </a:pPr>
            <a:r>
              <a:t>NORTH STAR</a:t>
            </a:r>
          </a:p>
        </p:txBody>
      </p:sp>
      <p:sp>
        <p:nvSpPr>
          <p:cNvPr id="3" name="TextBox 2"/>
          <p:cNvSpPr txBox="1"/>
          <p:nvPr/>
        </p:nvSpPr>
        <p:spPr>
          <a:xfrm>
            <a:off x="822960" y="868680"/>
            <a:ext cx="9144000" cy="1097280"/>
          </a:xfrm>
          <a:prstGeom prst="rect">
            <a:avLst/>
          </a:prstGeom>
          <a:noFill/>
        </p:spPr>
        <p:txBody>
          <a:bodyPr wrap="square">
            <a:spAutoFit/>
          </a:bodyPr>
          <a:lstStyle/>
          <a:p>
            <a:pPr algn="l">
              <a:lnSpc>
                <a:spcPts val="6200"/>
              </a:lnSpc>
              <a:defRPr sz="5200" b="1" i="0">
                <a:solidFill>
                  <a:srgbClr val="FFFFFF"/>
                </a:solidFill>
                <a:latin typeface="Calibri"/>
              </a:defRPr>
            </a:pPr>
            <a:r>
              <a:t>The musical brain</a:t>
            </a:r>
            <a:br/>
            <a:r>
              <a:t>you've always wanted.</a:t>
            </a:r>
          </a:p>
        </p:txBody>
      </p:sp>
      <p:sp>
        <p:nvSpPr>
          <p:cNvPr id="4" name="TextBox 3"/>
          <p:cNvSpPr txBox="1"/>
          <p:nvPr/>
        </p:nvSpPr>
        <p:spPr>
          <a:xfrm>
            <a:off x="822960" y="2468880"/>
            <a:ext cx="6858000" cy="2286000"/>
          </a:xfrm>
          <a:prstGeom prst="rect">
            <a:avLst/>
          </a:prstGeom>
          <a:noFill/>
        </p:spPr>
        <p:txBody>
          <a:bodyPr wrap="square">
            <a:spAutoFit/>
          </a:bodyPr>
          <a:lstStyle/>
          <a:p>
            <a:pPr>
              <a:lnSpc>
                <a:spcPts val="2100"/>
              </a:lnSpc>
              <a:spcAft>
                <a:spcPts val="1600"/>
              </a:spcAft>
              <a:defRPr sz="1300" b="0" i="0">
                <a:solidFill>
                  <a:srgbClr val="737373"/>
                </a:solidFill>
                <a:latin typeface="Calibri"/>
              </a:defRPr>
            </a:pPr>
            <a:r>
              <a:t>Imagine picking up your instrument. You play something — 30 seconds, two minutes, whatever comes out. Before you even set it down, the chords appear on screen in real time. The app recognizes this is a variation of something you played three months ago.</a:t>
            </a:r>
          </a:p>
          <a:p>
            <a:pPr>
              <a:lnSpc>
                <a:spcPts val="2100"/>
              </a:lnSpc>
              <a:defRPr sz="1300" b="0" i="0">
                <a:solidFill>
                  <a:srgbClr val="737373"/>
                </a:solidFill>
                <a:latin typeface="Calibri"/>
              </a:defRPr>
            </a:pPr>
            <a:r>
              <a:t>And when you're done — you step into The Room. Your music becomes a world. Shaders paint the harmonic structure in light. Poetry whispers what the chords are saying. AI-generated imagery emerges from the mood of what you just played. You share the link. A friend opens it on their phone. They're inside your music.</a:t>
            </a:r>
          </a:p>
        </p:txBody>
      </p:sp>
      <p:sp>
        <p:nvSpPr>
          <p:cNvPr id="5" name="TextBox 4"/>
          <p:cNvSpPr txBox="1"/>
          <p:nvPr/>
        </p:nvSpPr>
        <p:spPr>
          <a:xfrm>
            <a:off x="822960" y="4937760"/>
            <a:ext cx="9144000" cy="731520"/>
          </a:xfrm>
          <a:prstGeom prst="rect">
            <a:avLst/>
          </a:prstGeom>
          <a:noFill/>
        </p:spPr>
        <p:txBody>
          <a:bodyPr wrap="square">
            <a:spAutoFit/>
          </a:bodyPr>
          <a:lstStyle/>
          <a:p>
            <a:pPr algn="l">
              <a:lnSpc>
                <a:spcPts val="2400"/>
              </a:lnSpc>
              <a:defRPr sz="1500" b="1" i="0">
                <a:solidFill>
                  <a:srgbClr val="999999"/>
                </a:solidFill>
                <a:latin typeface="Calibri"/>
              </a:defRPr>
            </a:pPr>
            <a:r>
              <a:t>Resonance transforms how musicians share their work. Not as a file. Not as a stream. As an experience — visual, poetic, immersive — that anyone can step into with a single link.</a:t>
            </a:r>
          </a:p>
        </p:txBody>
      </p:sp>
      <p:sp>
        <p:nvSpPr>
          <p:cNvPr id="6" name="TextBox 5"/>
          <p:cNvSpPr txBox="1"/>
          <p:nvPr/>
        </p:nvSpPr>
        <p:spPr>
          <a:xfrm>
            <a:off x="822960" y="5852160"/>
            <a:ext cx="9144000" cy="548640"/>
          </a:xfrm>
          <a:prstGeom prst="rect">
            <a:avLst/>
          </a:prstGeom>
          <a:noFill/>
        </p:spPr>
        <p:txBody>
          <a:bodyPr wrap="square">
            <a:spAutoFit/>
          </a:bodyPr>
          <a:lstStyle/>
          <a:p>
            <a:pPr algn="l">
              <a:lnSpc>
                <a:spcPts val="2000"/>
              </a:lnSpc>
              <a:defRPr sz="1200" b="0" i="1">
                <a:solidFill>
                  <a:srgbClr val="4D4D4D"/>
                </a:solidFill>
                <a:latin typeface="Calibri"/>
              </a:defRPr>
            </a:pPr>
            <a:r>
              <a:t>Not a DAW. Not a notation app. Not a screensaver. A creative partner that turns every idea into something you can understand, inhabit, and share with the world.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822960" y="612648"/>
            <a:ext cx="2743200" cy="228600"/>
          </a:xfrm>
          <a:prstGeom prst="rect">
            <a:avLst/>
          </a:prstGeom>
          <a:noFill/>
        </p:spPr>
        <p:txBody>
          <a:bodyPr wrap="square">
            <a:spAutoFit/>
          </a:bodyPr>
          <a:lstStyle/>
          <a:p>
            <a:pPr algn="l">
              <a:defRPr sz="900" b="0" i="0">
                <a:solidFill>
                  <a:srgbClr val="7C3AED"/>
                </a:solidFill>
                <a:latin typeface="Consolas"/>
              </a:defRPr>
            </a:pPr>
            <a:r>
              <a:t>ABOUT</a:t>
            </a:r>
          </a:p>
        </p:txBody>
      </p:sp>
      <p:sp>
        <p:nvSpPr>
          <p:cNvPr id="3" name="TextBox 2"/>
          <p:cNvSpPr txBox="1"/>
          <p:nvPr/>
        </p:nvSpPr>
        <p:spPr>
          <a:xfrm>
            <a:off x="822960" y="868680"/>
            <a:ext cx="9144000" cy="640080"/>
          </a:xfrm>
          <a:prstGeom prst="rect">
            <a:avLst/>
          </a:prstGeom>
          <a:noFill/>
        </p:spPr>
        <p:txBody>
          <a:bodyPr wrap="square">
            <a:spAutoFit/>
          </a:bodyPr>
          <a:lstStyle/>
          <a:p>
            <a:pPr algn="l">
              <a:defRPr sz="4200" b="1" i="0">
                <a:solidFill>
                  <a:srgbClr val="FFFFFF"/>
                </a:solidFill>
                <a:latin typeface="Calibri"/>
              </a:defRPr>
            </a:pPr>
            <a:r>
              <a:t>Karel Barnoski</a:t>
            </a:r>
          </a:p>
        </p:txBody>
      </p:sp>
      <p:sp>
        <p:nvSpPr>
          <p:cNvPr id="4" name="TextBox 3"/>
          <p:cNvSpPr txBox="1"/>
          <p:nvPr/>
        </p:nvSpPr>
        <p:spPr>
          <a:xfrm>
            <a:off x="822960" y="1828800"/>
            <a:ext cx="5029200" cy="2743200"/>
          </a:xfrm>
          <a:prstGeom prst="rect">
            <a:avLst/>
          </a:prstGeom>
          <a:noFill/>
        </p:spPr>
        <p:txBody>
          <a:bodyPr wrap="square">
            <a:spAutoFit/>
          </a:bodyPr>
          <a:lstStyle/>
          <a:p>
            <a:pPr>
              <a:lnSpc>
                <a:spcPts val="1900"/>
              </a:lnSpc>
              <a:spcAft>
                <a:spcPts val="1400"/>
              </a:spcAft>
              <a:defRPr sz="1200" b="0" i="0">
                <a:solidFill>
                  <a:srgbClr val="808080"/>
                </a:solidFill>
                <a:latin typeface="Calibri"/>
              </a:defRPr>
            </a:pPr>
            <a:r>
              <a:t>Design Director at Workday. 15+ years leading UX for enterprise products at Workday, GE, and Kodak. BFA Illustration and MFA Computer Graphics from Rochester Institute of Technology, with classical training from Barnstone Studios.</a:t>
            </a:r>
          </a:p>
          <a:p>
            <a:pPr>
              <a:lnSpc>
                <a:spcPts val="1900"/>
              </a:lnSpc>
              <a:defRPr sz="1200" b="0" i="0">
                <a:solidFill>
                  <a:srgbClr val="808080"/>
                </a:solidFill>
                <a:latin typeface="Calibri"/>
              </a:defRPr>
            </a:pPr>
            <a:r>
              <a:t>Founder of 2octave, an audio design studio specializing in product sonification — creating award-winning sounds for products ranging from digital cameras to kitchen appliances. Published in UX Magazine on the science of sound in product design.</a:t>
            </a:r>
          </a:p>
        </p:txBody>
      </p:sp>
      <p:sp>
        <p:nvSpPr>
          <p:cNvPr id="5" name="TextBox 4"/>
          <p:cNvSpPr txBox="1"/>
          <p:nvPr/>
        </p:nvSpPr>
        <p:spPr>
          <a:xfrm>
            <a:off x="6492240" y="1828800"/>
            <a:ext cx="5029200" cy="2743200"/>
          </a:xfrm>
          <a:prstGeom prst="rect">
            <a:avLst/>
          </a:prstGeom>
          <a:noFill/>
        </p:spPr>
        <p:txBody>
          <a:bodyPr wrap="square">
            <a:spAutoFit/>
          </a:bodyPr>
          <a:lstStyle/>
          <a:p>
            <a:pPr>
              <a:lnSpc>
                <a:spcPts val="1900"/>
              </a:lnSpc>
              <a:spcAft>
                <a:spcPts val="1400"/>
              </a:spcAft>
              <a:defRPr sz="1200" b="0" i="0">
                <a:solidFill>
                  <a:srgbClr val="808080"/>
                </a:solidFill>
                <a:latin typeface="Calibri"/>
              </a:defRPr>
            </a:pPr>
            <a:r>
              <a:t>Pianist and composer. Released "Welcome Home," a solo piano album self-produced during quarantine. Music on Spotify and SoundCloud.</a:t>
            </a:r>
          </a:p>
          <a:p>
            <a:pPr>
              <a:lnSpc>
                <a:spcPts val="1900"/>
              </a:lnSpc>
              <a:defRPr sz="1200" b="0" i="0">
                <a:solidFill>
                  <a:srgbClr val="808080"/>
                </a:solidFill>
                <a:latin typeface="Calibri"/>
              </a:defRPr>
            </a:pPr>
            <a:r>
              <a:t>Resonance exists because Karel is both the designer and the user — a musician who records hundreds of ideas and needed a better way to understand and develop them. The Room exists because understanding music was never enough. He wanted to live inside it.</a:t>
            </a:r>
          </a:p>
        </p:txBody>
      </p:sp>
      <p:sp>
        <p:nvSpPr>
          <p:cNvPr id="6" name="TextBox 5"/>
          <p:cNvSpPr txBox="1"/>
          <p:nvPr/>
        </p:nvSpPr>
        <p:spPr>
          <a:xfrm>
            <a:off x="822960" y="5760720"/>
            <a:ext cx="6400800" cy="548640"/>
          </a:xfrm>
          <a:prstGeom prst="rect">
            <a:avLst/>
          </a:prstGeom>
          <a:noFill/>
        </p:spPr>
        <p:txBody>
          <a:bodyPr wrap="square">
            <a:spAutoFit/>
          </a:bodyPr>
          <a:lstStyle/>
          <a:p>
            <a:pPr algn="l">
              <a:lnSpc>
                <a:spcPts val="1900"/>
              </a:lnSpc>
              <a:defRPr sz="1200" b="0" i="1">
                <a:solidFill>
                  <a:srgbClr val="404040"/>
                </a:solidFill>
                <a:latin typeface="Calibri"/>
              </a:defRPr>
            </a:pPr>
            <a:r>
              <a:t>"Sound is perceived very much in the same way as any other stimuli. By manipulating sound, you can affect the user's perception of an experience."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0" y="2377440"/>
            <a:ext cx="12191695" cy="914400"/>
          </a:xfrm>
          <a:prstGeom prst="rect">
            <a:avLst/>
          </a:prstGeom>
          <a:noFill/>
        </p:spPr>
        <p:txBody>
          <a:bodyPr wrap="square">
            <a:spAutoFit/>
          </a:bodyPr>
          <a:lstStyle/>
          <a:p>
            <a:pPr algn="ctr">
              <a:defRPr sz="6000" b="1" i="0">
                <a:solidFill>
                  <a:srgbClr val="FFFFFF"/>
                </a:solidFill>
                <a:latin typeface="Calibri"/>
              </a:defRPr>
            </a:pPr>
            <a:r>
              <a:t>Resonance</a:t>
            </a:r>
          </a:p>
        </p:txBody>
      </p:sp>
      <p:sp>
        <p:nvSpPr>
          <p:cNvPr id="3" name="TextBox 2"/>
          <p:cNvSpPr txBox="1"/>
          <p:nvPr/>
        </p:nvSpPr>
        <p:spPr>
          <a:xfrm>
            <a:off x="0" y="3383280"/>
            <a:ext cx="12191695" cy="457200"/>
          </a:xfrm>
          <a:prstGeom prst="rect">
            <a:avLst/>
          </a:prstGeom>
          <a:noFill/>
        </p:spPr>
        <p:txBody>
          <a:bodyPr wrap="square">
            <a:spAutoFit/>
          </a:bodyPr>
          <a:lstStyle/>
          <a:p>
            <a:pPr algn="ctr">
              <a:lnSpc>
                <a:spcPts val="2400"/>
              </a:lnSpc>
              <a:defRPr sz="1600" b="0" i="0">
                <a:solidFill>
                  <a:srgbClr val="666666"/>
                </a:solidFill>
                <a:latin typeface="Calibri"/>
              </a:defRPr>
            </a:pPr>
            <a:r>
              <a:t>Analyze. Visualize. Experience. Share.</a:t>
            </a:r>
          </a:p>
        </p:txBody>
      </p:sp>
      <p:sp>
        <p:nvSpPr>
          <p:cNvPr id="4" name="TextBox 3"/>
          <p:cNvSpPr txBox="1"/>
          <p:nvPr/>
        </p:nvSpPr>
        <p:spPr>
          <a:xfrm>
            <a:off x="0" y="5303520"/>
            <a:ext cx="12191695" cy="274320"/>
          </a:xfrm>
          <a:prstGeom prst="rect">
            <a:avLst/>
          </a:prstGeom>
          <a:noFill/>
        </p:spPr>
        <p:txBody>
          <a:bodyPr wrap="square">
            <a:spAutoFit/>
          </a:bodyPr>
          <a:lstStyle/>
          <a:p>
            <a:pPr algn="ctr">
              <a:defRPr sz="1200" b="0" i="0">
                <a:solidFill>
                  <a:srgbClr val="7C3AED"/>
                </a:solidFill>
                <a:latin typeface="Consolas"/>
              </a:defRPr>
            </a:pPr>
            <a:r>
              <a:t>getresonance.vercel.app</a:t>
            </a:r>
          </a:p>
        </p:txBody>
      </p:sp>
      <p:sp>
        <p:nvSpPr>
          <p:cNvPr id="5" name="TextBox 4"/>
          <p:cNvSpPr txBox="1"/>
          <p:nvPr/>
        </p:nvSpPr>
        <p:spPr>
          <a:xfrm>
            <a:off x="0" y="5669280"/>
            <a:ext cx="12191695" cy="274320"/>
          </a:xfrm>
          <a:prstGeom prst="rect">
            <a:avLst/>
          </a:prstGeom>
          <a:noFill/>
        </p:spPr>
        <p:txBody>
          <a:bodyPr wrap="square">
            <a:spAutoFit/>
          </a:bodyPr>
          <a:lstStyle/>
          <a:p>
            <a:pPr algn="ctr">
              <a:defRPr sz="1000" b="0" i="0">
                <a:solidFill>
                  <a:srgbClr val="404040"/>
                </a:solidFill>
                <a:latin typeface="Calibri"/>
              </a:defRPr>
            </a:pPr>
            <a:r>
              <a:t>Karel Barnoski  ·  March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